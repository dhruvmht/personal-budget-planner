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2.xml" ContentType="application/vnd.openxmlformats-officedocument.presentationml.notesSlide+xml"/>
  <Override PartName="/ppt/notesSlides/notesSlide1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0"/>
  </p:notesMasterIdLst>
  <p:sldIdLst>
    <p:sldId id="271" r:id="rId5"/>
    <p:sldId id="272" r:id="rId6"/>
    <p:sldId id="277" r:id="rId7"/>
    <p:sldId id="275" r:id="rId8"/>
    <p:sldId id="278" r:id="rId9"/>
    <p:sldId id="279" r:id="rId10"/>
    <p:sldId id="280" r:id="rId11"/>
    <p:sldId id="282" r:id="rId12"/>
    <p:sldId id="283" r:id="rId13"/>
    <p:sldId id="284" r:id="rId14"/>
    <p:sldId id="286" r:id="rId15"/>
    <p:sldId id="285" r:id="rId16"/>
    <p:sldId id="287" r:id="rId17"/>
    <p:sldId id="288" r:id="rId18"/>
    <p:sldId id="289" r:id="rId19"/>
  </p:sldIdLst>
  <p:sldSz cx="9144000" cy="6858000" type="screen4x3"/>
  <p:notesSz cx="6858000" cy="9144000"/>
  <p:embeddedFontLst>
    <p:embeddedFont>
      <p:font typeface="Book Antiqua" panose="02040602050305030304" pitchFamily="18" charset="0"/>
      <p:regular r:id="rId21"/>
      <p:bold r:id="rId22"/>
      <p:italic r:id="rId23"/>
      <p:boldItalic r:id="rId24"/>
    </p:embeddedFont>
    <p:embeddedFont>
      <p:font typeface="Calibri" panose="020F050202020403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LcInLSkLHuHqSc+ZqvHXDxAk9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73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77" name="Google Shape;7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4319762"/>
      </p:ext>
    </p:extLst>
  </p:cSld>
  <p:clrMapOvr>
    <a:masterClrMapping/>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references accessed 15 October 2026: https://www.ynab.com/ynab-method ; https://react.dev/learn ; https://expressjs.com/ ; https://dev.mysql.com/doc/refman/8.0/en/ . Spreadsheet observations are design comparisons, not results of a research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 https://github.com/DhruvMht/personal-budget-planner . Framework references: https://react.dev/learn ; https://expressjs.com/ ; https://dev.mysql.com/doc/refman/8.0/en/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source: docs/qa-report.md, 15 October 2026. Latest rerun: 68 regression tests, 24 API groups, 125 input examples, production build and focused investment date/layout API/browser checks. Earlier broad browser/provider checks retain their recorded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versions and runtime requirements: repository frontend/package.json, backend/package.json, database/schema.sql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accessed 15 October 2026: https://github.com/DhruvMht/personal-budget-planner ; https://github.com/DhruvMht/personal-budget-planner/blob/main/docs/qa-report.md ; https://react.dev/learn ; https://expressjs.com/ ; https://dev.mysql.com/doc/refman/8.0/en/ ; https://www.ynab.com/ynab-method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480"/>
              </a:spcBef>
              <a:spcAft>
                <a:spcPts val="0"/>
              </a:spcAft>
              <a:buClr>
                <a:srgbClr val="888888"/>
              </a:buClr>
              <a:buSzPts val="2400"/>
              <a:buFont typeface="Noto Sans Symbols"/>
              <a:buNone/>
              <a:defRPr sz="2400" b="0" i="0" u="none" strike="noStrike" cap="none">
                <a:solidFill>
                  <a:srgbClr val="888888"/>
                </a:solidFill>
                <a:latin typeface="Calibri"/>
                <a:ea typeface="Calibri"/>
                <a:cs typeface="Calibri"/>
                <a:sym typeface="Calibri"/>
              </a:defRPr>
            </a:lvl1pPr>
            <a:lvl2pPr marR="0" lvl="1" algn="ctr">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2pPr>
            <a:lvl3pPr marR="0" lvl="2" algn="ctr">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3pPr>
            <a:lvl4pPr marR="0" lvl="3"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4pPr>
            <a:lvl5pPr marR="0" lvl="4"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19"/>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9"/>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 name="Google Shape;30;p21"/>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1"/>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2"/>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22"/>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6" name="Google Shape;46;p23"/>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3"/>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24"/>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Noto Sans Symbols"/>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2" name="Google Shape;52;p24"/>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3" name="Google Shape;53;p24"/>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24"/>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5"/>
          <p:cNvSpPr>
            <a:spLocks noGrp="1"/>
          </p:cNvSpPr>
          <p:nvPr>
            <p:ph type="pic" idx="2"/>
          </p:nvPr>
        </p:nvSpPr>
        <p:spPr>
          <a:xfrm>
            <a:off x="1792288" y="612775"/>
            <a:ext cx="5486400" cy="4114800"/>
          </a:xfrm>
          <a:prstGeom prst="rect">
            <a:avLst/>
          </a:prstGeom>
          <a:noFill/>
          <a:ln>
            <a:noFill/>
          </a:ln>
        </p:spPr>
      </p:sp>
      <p:sp>
        <p:nvSpPr>
          <p:cNvPr id="59" name="Google Shape;59;p25"/>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0" name="Google Shape;60;p25"/>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5"/>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6"/>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6"/>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6"/>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27"/>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27"/>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7"/>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2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SourceNotes" Type="http://schemas.openxmlformats.org/officeDocument/2006/relationships/notesSlide" Target="../notesSlides/notesSlide10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SourceNotes" Type="http://schemas.openxmlformats.org/officeDocument/2006/relationships/notesSlide" Target="../notesSlides/notesSlide10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SourceNotes" Type="http://schemas.openxmlformats.org/officeDocument/2006/relationships/notesSlide" Target="../notesSlides/notesSlide1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SourceNotes" Type="http://schemas.openxmlformats.org/officeDocument/2006/relationships/notesSlide" Target="../notesSlides/notesSlide1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SourceNotes" Type="http://schemas.openxmlformats.org/officeDocument/2006/relationships/notesSlide" Target="../notesSlides/notesSlide1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ctrTitle"/>
          </p:nvPr>
        </p:nvSpPr>
        <p:spPr>
          <a:xfrm>
            <a:off x="685800" y="731520"/>
            <a:ext cx="7772400" cy="2868931"/>
          </a:xfrm>
          <a:prstGeom prst="rect">
            <a:avLst/>
          </a:prstGeom>
          <a:noFill/>
          <a:ln>
            <a:noFill/>
          </a:ln>
        </p:spPr>
        <p:txBody>
          <a:bodyPr spcFirstLastPara="1" wrap="square" lIns="91425" tIns="45700" rIns="91425" bIns="45700" anchor="ctr" anchorCtr="0">
            <a:noAutofit/>
          </a:bodyPr>
          <a:lstStyle/>
          <a:p>
            <a:r>
              <a:rPr lang="en-IN" dirty="0">
                <a:latin typeface="Times New Roman"/>
                <a:cs typeface="Times New Roman"/>
              </a:rPr>
              <a:t>       </a:t>
            </a:r>
            <a:br>
              <a:rPr lang="en-IN" dirty="0">
                <a:latin typeface="Times New Roman" panose="02020603050405020304" pitchFamily="18" charset="0"/>
                <a:cs typeface="Times New Roman" panose="02020603050405020304" pitchFamily="18" charset="0"/>
              </a:rPr>
            </a:br>
            <a:r>
              <a:rPr lang="en-IN" dirty="0">
                <a:latin typeface="Times New Roman"/>
                <a:cs typeface="Times New Roman"/>
              </a:rPr>
              <a:t>Final Project </a:t>
            </a:r>
            <a:r>
              <a:rPr lang="en-IN" sz="3600" b="1" i="0" u="none" strike="noStrike" cap="none" dirty="0">
                <a:latin typeface="Times New Roman"/>
                <a:cs typeface="Times New Roman"/>
                <a:sym typeface="Calibri"/>
              </a:rPr>
              <a:t/>
            </a:r>
            <a:r>
              <a:rPr lang="en-IN" dirty="0">
                <a:latin typeface="Times New Roman"/>
                <a:cs typeface="Times New Roman"/>
              </a:rPr>
              <a:t>Presentation</a:t>
            </a:r>
            <a:br>
              <a:rPr lang="en-IN" dirty="0">
                <a:latin typeface="Times New Roman" panose="02020603050405020304" pitchFamily="18" charset="0"/>
                <a:cs typeface="Times New Roman" panose="02020603050405020304" pitchFamily="18" charset="0"/>
              </a:rPr>
            </a:br>
            <a:r>
              <a:rPr lang="en-IN" dirty="0">
                <a:latin typeface="Times New Roman"/>
                <a:cs typeface="Times New Roman"/>
              </a:rPr>
              <a:t>A.Y. 2026-2027</a:t>
            </a:r>
            <a:br>
              <a:rPr lang="en-IN" dirty="0">
                <a:latin typeface="Times New Roman" panose="02020603050405020304" pitchFamily="18" charset="0"/>
                <a:cs typeface="Times New Roman" panose="02020603050405020304" pitchFamily="18" charset="0"/>
              </a:rPr>
            </a:br>
            <a:r>
              <a:rPr lang="en-IN" dirty="0">
                <a:latin typeface="Times New Roman"/>
                <a:cs typeface="Times New Roman"/>
              </a:rPr>
              <a:t>Project Title: </a:t>
            </a:r>
            <a:r>
              <a:rPr lang="en-IN" sz="3200" dirty="0">
                <a:latin typeface="Times New Roman"/>
                <a:cs typeface="Times New Roman"/>
              </a:rPr>
              <a:t>Personal Budget Planner</a:t>
            </a:r>
            <a:endParaRPr lang="en-US" sz="2000" b="1" i="0" u="none" strike="noStrike" cap="none" dirty="0">
              <a:latin typeface="Times New Roman"/>
              <a:cs typeface="Times New Roman"/>
            </a:endParaRPr>
          </a:p>
        </p:txBody>
      </p:sp>
      <p:sp>
        <p:nvSpPr>
          <p:cNvPr id="80" name="Google Shape;80;p1"/>
          <p:cNvSpPr txBox="1">
            <a:spLocks noGrp="1"/>
          </p:cNvSpPr>
          <p:nvPr>
            <p:ph type="subTitle" idx="1"/>
          </p:nvPr>
        </p:nvSpPr>
        <p:spPr>
          <a:xfrm>
            <a:off x="957243" y="3428511"/>
            <a:ext cx="7238490" cy="246090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888888"/>
              </a:buClr>
              <a:buSzPts val="2400"/>
              <a:buNone/>
            </a:pPr>
            <a:endParaRPr sz="2000" b="0" i="0" u="none" strike="noStrike" cap="none" dirty="0">
              <a:solidFill>
                <a:srgbClr val="888888"/>
              </a:solidFill>
              <a:latin typeface="Book Antiqua" panose="02040602050305030304" pitchFamily="18" charset="0"/>
              <a:sym typeface="Calibri"/>
            </a:endParaRPr>
          </a:p>
          <a:p>
            <a:pPr marL="342900" marR="0" lvl="0" indent="-342900" algn="just" rtl="0">
              <a:lnSpc>
                <a:spcPct val="100000"/>
              </a:lnSpc>
              <a:spcBef>
                <a:spcPts val="0"/>
              </a:spcBef>
              <a:spcAft>
                <a:spcPts val="0"/>
              </a:spcAft>
              <a:buClr>
                <a:srgbClr val="888888"/>
              </a:buClr>
              <a:buSzPts val="2400"/>
              <a:buNone/>
            </a:pPr>
            <a:r>
              <a:rPr lang="en-IN" sz="2000" b="1" i="0" u="none" strike="noStrike" cap="none" dirty="0">
                <a:solidFill>
                  <a:schemeClr val="tx1"/>
                </a:solidFill>
                <a:latin typeface="Book Antiqua" panose="02040602050305030304" pitchFamily="18" charset="0"/>
                <a:sym typeface="Calibri"/>
              </a:rPr>
              <a:t>Presented by : </a:t>
            </a:r>
          </a:p>
          <a:p>
            <a:pPr marL="342900" marR="0" lvl="0" indent="-342900" algn="just" rtl="0">
              <a:lnSpc>
                <a:spcPct val="100000"/>
              </a:lnSpc>
              <a:spcBef>
                <a:spcPts val="0"/>
              </a:spcBef>
              <a:spcAft>
                <a:spcPts val="0"/>
              </a:spcAft>
              <a:buClr>
                <a:srgbClr val="888888"/>
              </a:buClr>
              <a:buSzPts val="2400"/>
              <a:buNone/>
            </a:pPr>
            <a:endParaRPr lang="en-IN" sz="2000" dirty="0">
              <a:solidFill>
                <a:schemeClr val="tx1"/>
              </a:solidFill>
              <a:latin typeface="Book Antiqua" panose="02040602050305030304" pitchFamily="18" charset="0"/>
            </a:endParaRPr>
          </a:p>
          <a:p>
            <a:pPr marL="342900" indent="-342900" algn="just">
              <a:spcBef>
                <a:spcPts val="0"/>
              </a:spcBef>
            </a:pPr>
            <a:endParaRPr lang="en-IN" sz="2000" b="1" dirty="0">
              <a:solidFill>
                <a:schemeClr val="tx1"/>
              </a:solidFill>
              <a:latin typeface="Book Antiqua"/>
            </a:endParaRPr>
          </a:p>
          <a:p>
            <a:pPr marL="342900" indent="-342900" algn="just">
              <a:spcBef>
                <a:spcPts val="0"/>
              </a:spcBef>
            </a:pPr>
            <a:endParaRPr lang="en-IN" sz="2000" b="1" dirty="0">
              <a:solidFill>
                <a:schemeClr val="tx1"/>
              </a:solidFill>
              <a:latin typeface="Book Antiqua"/>
            </a:endParaRPr>
          </a:p>
          <a:p>
            <a:pPr marL="342900" indent="-342900" algn="just">
              <a:spcBef>
                <a:spcPts val="0"/>
              </a:spcBef>
            </a:pPr>
            <a:endParaRPr lang="en-IN" sz="2000" b="1" dirty="0">
              <a:solidFill>
                <a:schemeClr val="tx1"/>
              </a:solidFill>
              <a:latin typeface="Book Antiqua"/>
            </a:endParaRPr>
          </a:p>
          <a:p>
            <a:pPr marL="342900" indent="-342900" algn="just">
              <a:spcBef>
                <a:spcPts val="0"/>
              </a:spcBef>
            </a:pPr>
            <a:endParaRPr lang="en-IN" sz="2000" b="1" dirty="0">
              <a:solidFill>
                <a:schemeClr val="tx1"/>
              </a:solidFill>
              <a:latin typeface="Book Antiqua"/>
            </a:endParaRPr>
          </a:p>
          <a:p>
            <a:pPr marL="342900" indent="-342900" algn="just">
              <a:spcBef>
                <a:spcPts val="0"/>
              </a:spcBef>
            </a:pPr>
            <a:r>
              <a:rPr lang="en-IN" sz="2000" b="1" i="0" u="none" strike="noStrike" cap="none" dirty="0">
                <a:solidFill>
                  <a:schemeClr val="tx1"/>
                </a:solidFill>
                <a:latin typeface="Book Antiqua"/>
                <a:sym typeface="Calibri"/>
              </a:rPr>
              <a:t>Under the guidance of :</a:t>
            </a:r>
            <a:r>
              <a:rPr lang="en-IN" sz="2000" b="1" i="0" u="none" strike="noStrike" cap="none" dirty="0" err="1">
                <a:solidFill>
                  <a:schemeClr val="tx1"/>
                </a:solidFill>
                <a:latin typeface="Book Antiqua"/>
                <a:sym typeface="Calibri"/>
              </a:rPr>
              <a:t>Dr.</a:t>
            </a:r>
            <a:r>
              <a:rPr lang="en-IN" sz="2000" b="1" i="0" u="none" strike="noStrike" cap="none" dirty="0">
                <a:solidFill>
                  <a:schemeClr val="tx1"/>
                </a:solidFill>
                <a:latin typeface="Book Antiqua"/>
                <a:sym typeface="Calibri"/>
              </a:rPr>
              <a:t> </a:t>
            </a:r>
            <a:r>
              <a:rPr lang="en-IN" sz="2000" b="1" i="0" u="none" strike="noStrike" cap="none" dirty="0" err="1">
                <a:solidFill>
                  <a:schemeClr val="tx1"/>
                </a:solidFill>
                <a:latin typeface="Book Antiqua"/>
                <a:sym typeface="Calibri"/>
              </a:rPr>
              <a:t>Ravita</a:t>
            </a:r>
            <a:r>
              <a:rPr lang="en-IN" sz="2000" b="1" i="0" u="none" strike="noStrike" cap="none" dirty="0">
                <a:solidFill>
                  <a:schemeClr val="tx1"/>
                </a:solidFill>
                <a:latin typeface="Book Antiqua"/>
                <a:sym typeface="Calibri"/>
              </a:rPr>
              <a:t> Mishra</a:t>
            </a:r>
            <a:endParaRPr sz="2000" b="1" i="0" u="none" strike="noStrike" cap="none" dirty="0">
              <a:solidFill>
                <a:schemeClr val="tx1"/>
              </a:solidFill>
              <a:latin typeface="Book Antiqua"/>
            </a:endParaRPr>
          </a:p>
        </p:txBody>
      </p:sp>
      <p:sp>
        <p:nvSpPr>
          <p:cNvPr id="81" name="Google Shape;81;p1"/>
          <p:cNvSpPr txBox="1">
            <a:spLocks noGrp="1"/>
          </p:cNvSpPr>
          <p:nvPr>
            <p:ph type="ftr" idx="11"/>
          </p:nvPr>
        </p:nvSpPr>
        <p:spPr>
          <a:xfrm>
            <a:off x="2607587" y="6364703"/>
            <a:ext cx="392882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050" b="0" i="0" u="none" strike="noStrike" cap="none">
                <a:solidFill>
                  <a:srgbClr val="888888"/>
                </a:solidFill>
                <a:latin typeface="Aptos" panose="020B0004020202020204" pitchFamily="34" charset="0"/>
                <a:sym typeface="Calibri"/>
              </a:rPr>
              <a:t>Computer Engineering Department, MPSTME, Mumbai Campus </a:t>
            </a:r>
            <a:endParaRPr sz="1050" b="0" i="0" u="none" strike="noStrike" cap="none">
              <a:solidFill>
                <a:srgbClr val="888888"/>
              </a:solidFill>
              <a:latin typeface="Aptos" panose="020B0004020202020204" pitchFamily="34" charset="0"/>
              <a:sym typeface="Calibri"/>
            </a:endParaRPr>
          </a:p>
        </p:txBody>
      </p:sp>
      <p:sp>
        <p:nvSpPr>
          <p:cNvPr id="82" name="Google Shape;82;p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1</a:t>
            </a:fld>
            <a:endParaRPr sz="1050" b="0" i="0" u="none" strike="noStrike" cap="none">
              <a:solidFill>
                <a:srgbClr val="888888"/>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A9C9DE06-68F9-C8E9-BFED-5DB0FD2BF094}"/>
              </a:ext>
            </a:extLst>
          </p:cNvPr>
          <p:cNvGraphicFramePr>
            <a:graphicFrameLocks noGrp="1"/>
          </p:cNvGraphicFramePr>
          <p:nvPr>
            <p:extLst>
              <p:ext uri="{D42A27DB-BD31-4B8C-83A1-F6EECF244321}">
                <p14:modId xmlns:p14="http://schemas.microsoft.com/office/powerpoint/2010/main" val="4149912722"/>
              </p:ext>
            </p:extLst>
          </p:nvPr>
        </p:nvGraphicFramePr>
        <p:xfrm>
          <a:off x="2590113" y="4106332"/>
          <a:ext cx="3972749" cy="1280160"/>
        </p:xfrm>
        <a:graphic>
          <a:graphicData uri="http://schemas.openxmlformats.org/drawingml/2006/table">
            <a:tbl>
              <a:tblPr firstRow="1" bandRow="1">
                <a:tableStyleId>{5940675A-B579-460E-94D1-54222C63F5DA}</a:tableStyleId>
              </a:tblPr>
              <a:tblGrid>
                <a:gridCol w="759355">
                  <a:extLst>
                    <a:ext uri="{9D8B030D-6E8A-4147-A177-3AD203B41FA5}">
                      <a16:colId xmlns:a16="http://schemas.microsoft.com/office/drawing/2014/main" val="4281536655"/>
                    </a:ext>
                  </a:extLst>
                </a:gridCol>
                <a:gridCol w="3213394">
                  <a:extLst>
                    <a:ext uri="{9D8B030D-6E8A-4147-A177-3AD203B41FA5}">
                      <a16:colId xmlns:a16="http://schemas.microsoft.com/office/drawing/2014/main" val="2075988271"/>
                    </a:ext>
                  </a:extLst>
                </a:gridCol>
              </a:tblGrid>
              <a:tr h="370840">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Name</a:t>
                      </a:r>
                    </a:p>
                  </a:txBody>
                  <a:tcPr/>
                </a:tc>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DHRUV MEHTA</a:t>
                      </a:r>
                    </a:p>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MOKSH SONI</a:t>
                      </a:r>
                    </a:p>
                  </a:txBody>
                  <a:tcPr/>
                </a:tc>
                <a:extLst>
                  <a:ext uri="{0D108BD9-81ED-4DB2-BD59-A6C34878D82A}">
                    <a16:rowId xmlns:a16="http://schemas.microsoft.com/office/drawing/2014/main" val="2936959722"/>
                  </a:ext>
                </a:extLst>
              </a:tr>
              <a:tr h="370840">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a:solidFill>
                            <a:schemeClr val="tx1"/>
                          </a:solidFill>
                          <a:latin typeface="Book Antiqua"/>
                          <a:ea typeface="Calibri"/>
                          <a:cs typeface="Calibri"/>
                          <a:sym typeface="Calibri"/>
                        </a:rPr>
                        <a:t>SAP ID</a:t>
                      </a:r>
                    </a:p>
                  </a:txBody>
                  <a:tcPr/>
                </a:tc>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70322200180</a:t>
                      </a:r>
                    </a:p>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70322200111</a:t>
                      </a:r>
                    </a:p>
                  </a:txBody>
                  <a:tcPr/>
                </a:tc>
                <a:extLst>
                  <a:ext uri="{0D108BD9-81ED-4DB2-BD59-A6C34878D82A}">
                    <a16:rowId xmlns:a16="http://schemas.microsoft.com/office/drawing/2014/main" val="1062352737"/>
                  </a:ext>
                </a:extLst>
              </a:tr>
              <a:tr h="370840">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a:solidFill>
                            <a:schemeClr val="tx1"/>
                          </a:solidFill>
                          <a:latin typeface="Book Antiqua"/>
                          <a:ea typeface="Calibri"/>
                          <a:cs typeface="Calibri"/>
                          <a:sym typeface="Calibri"/>
                        </a:rPr>
                        <a:t>Roll No.</a:t>
                      </a:r>
                    </a:p>
                  </a:txBody>
                  <a:tcPr/>
                </a:tc>
                <a:tc>
                  <a:txBody>
                    <a:bodyPr/>
                    <a:lstStyle/>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C-169</a:t>
                      </a:r>
                    </a:p>
                    <a:p>
                      <a:pPr marL="342900" marR="0" indent="-342900" algn="just" rtl="0">
                        <a:lnSpc>
                          <a:spcPct val="100000"/>
                        </a:lnSpc>
                        <a:spcBef>
                          <a:spcPts val="0"/>
                        </a:spcBef>
                        <a:spcAft>
                          <a:spcPts val="0"/>
                        </a:spcAft>
                        <a:buClr>
                          <a:srgbClr val="888888"/>
                        </a:buClr>
                        <a:buSzPts val="2400"/>
                        <a:buFont typeface="Noto Sans Symbols"/>
                        <a:buNone/>
                      </a:pPr>
                      <a:r>
                        <a:rPr lang="en-US" sz="1100" b="0" i="0" u="none" strike="noStrike" cap="none" dirty="0">
                          <a:solidFill>
                            <a:schemeClr val="tx1"/>
                          </a:solidFill>
                          <a:latin typeface="Book Antiqua"/>
                          <a:ea typeface="Calibri"/>
                          <a:cs typeface="Calibri"/>
                          <a:sym typeface="Calibri"/>
                        </a:rPr>
                        <a:t>C-183</a:t>
                      </a:r>
                    </a:p>
                  </a:txBody>
                  <a:tcPr/>
                </a:tc>
                <a:extLst>
                  <a:ext uri="{0D108BD9-81ED-4DB2-BD59-A6C34878D82A}">
                    <a16:rowId xmlns:a16="http://schemas.microsoft.com/office/drawing/2014/main" val="542243372"/>
                  </a:ext>
                </a:extLst>
              </a:tr>
            </a:tbl>
          </a:graphicData>
        </a:graphic>
      </p:graphicFrame>
    </p:spTree>
    <p:extLst>
      <p:ext uri="{BB962C8B-B14F-4D97-AF65-F5344CB8AC3E}">
        <p14:creationId xmlns:p14="http://schemas.microsoft.com/office/powerpoint/2010/main" val="382747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B336-9EBD-1DE2-079F-0A10A74922B9}"/>
              </a:ext>
            </a:extLst>
          </p:cNvPr>
          <p:cNvSpPr>
            <a:spLocks noGrp="1"/>
          </p:cNvSpPr>
          <p:nvPr>
            <p:ph type="title"/>
          </p:nvPr>
        </p:nvSpPr>
        <p:spPr>
          <a:xfrm>
            <a:off x="722313" y="1468967"/>
            <a:ext cx="7772400" cy="744009"/>
          </a:xfrm>
        </p:spPr>
        <p:txBody>
          <a:bodyPr/>
          <a:lstStyle/>
          <a:p>
            <a:r>
              <a:rPr lang="en-US"/>
              <a:t>Abstract</a:t>
            </a:r>
          </a:p>
        </p:txBody>
      </p:sp>
      <p:sp>
        <p:nvSpPr>
          <p:cNvPr id="3" name="Text Placeholder 2">
            <a:extLst>
              <a:ext uri="{FF2B5EF4-FFF2-40B4-BE49-F238E27FC236}">
                <a16:creationId xmlns:a16="http://schemas.microsoft.com/office/drawing/2014/main" id="{EF011F33-F57B-8272-05EB-C8821D20B24E}"/>
              </a:ext>
            </a:extLst>
          </p:cNvPr>
          <p:cNvSpPr>
            <a:spLocks noGrp="1"/>
          </p:cNvSpPr>
          <p:nvPr>
            <p:ph type="body" idx="1"/>
          </p:nvPr>
        </p:nvSpPr>
        <p:spPr>
          <a:xfrm>
            <a:off x="685800" y="2966977"/>
            <a:ext cx="7772400" cy="3200000"/>
          </a:xfrm>
        </p:spPr>
        <p:txBody>
          <a:bodyPr anchor="t"/>
          <a:lstStyle/>
          <a:p>
            <a:pPr marL="0" indent="0"/>
            <a:r>
              <a:rPr lang="en-US" sz="1200" dirty="0">
                <a:solidFill>
                  <a:schemeClr val="tx1"/>
                </a:solidFill>
              </a:rPr>
              <a:t>Personal Budget Planner brings income, expenses, category budgets, savings goals, bill reminders and investments into one web application. Priority weights distribute available income after fixed commitments. Calendar payments track partial and overdue balances. All eight investment types convert amount and quantity using a saved purchase price. Supported Indian stocks and mutual funds use exact instruments for live valuation while retaining purchase cost. Quantity provenance distinguishes estimates from owner-accepted values. Shared validators enforce input rules and reject future investment dates using the current Indian calendar day. React, Express and MySQL form the application stack. The final verification passed 68 regression tests and 24 API workflow groups, with focused browser checks for investment dates and responsive layouts.</a:t>
            </a:r>
          </a:p>
        </p:txBody>
      </p:sp>
      <p:sp>
        <p:nvSpPr>
          <p:cNvPr id="4" name="Slide Number Placeholder 3">
            <a:extLst>
              <a:ext uri="{FF2B5EF4-FFF2-40B4-BE49-F238E27FC236}">
                <a16:creationId xmlns:a16="http://schemas.microsoft.com/office/drawing/2014/main" id="{34742990-A866-E77B-6597-A0D04E9993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2</a:t>
            </a:fld>
            <a:endParaRPr lang="en-IN"/>
          </a:p>
        </p:txBody>
      </p:sp>
    </p:spTree>
    <p:extLst>
      <p:ext uri="{BB962C8B-B14F-4D97-AF65-F5344CB8AC3E}">
        <p14:creationId xmlns:p14="http://schemas.microsoft.com/office/powerpoint/2010/main" val="4056126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2AF0-A688-EAFA-94C4-8905FEFB2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9E2D2-4492-0E85-3CE5-0ED65FD97CCC}"/>
              </a:ext>
            </a:extLst>
          </p:cNvPr>
          <p:cNvSpPr>
            <a:spLocks noGrp="1"/>
          </p:cNvSpPr>
          <p:nvPr>
            <p:ph type="title"/>
          </p:nvPr>
        </p:nvSpPr>
        <p:spPr>
          <a:xfrm>
            <a:off x="722313" y="1545167"/>
            <a:ext cx="7772400" cy="1362075"/>
          </a:xfrm>
        </p:spPr>
        <p:txBody>
          <a:bodyPr/>
          <a:lstStyle/>
          <a:p>
            <a:r>
              <a:rPr lang="en-US"/>
              <a:t>Introduction</a:t>
            </a:r>
            <a:br>
              <a:rPr lang="en-US"/>
            </a:br>
            <a:r>
              <a:rPr lang="en-US" b="0"/>
              <a:t>(Real World Challenges)</a:t>
            </a:r>
          </a:p>
        </p:txBody>
      </p:sp>
      <p:sp>
        <p:nvSpPr>
          <p:cNvPr id="3" name="Text Placeholder 2">
            <a:extLst>
              <a:ext uri="{FF2B5EF4-FFF2-40B4-BE49-F238E27FC236}">
                <a16:creationId xmlns:a16="http://schemas.microsoft.com/office/drawing/2014/main" id="{E35597AD-133B-D050-8CAE-B37EC656404B}"/>
              </a:ext>
            </a:extLst>
          </p:cNvPr>
          <p:cNvSpPr>
            <a:spLocks noGrp="1"/>
          </p:cNvSpPr>
          <p:nvPr>
            <p:ph type="body" idx="1"/>
          </p:nvPr>
        </p:nvSpPr>
        <p:spPr>
          <a:xfrm>
            <a:off x="688446" y="3431646"/>
            <a:ext cx="7772400" cy="3200000"/>
          </a:xfrm>
        </p:spPr>
        <p:txBody>
          <a:bodyPr anchor="t"/>
          <a:lstStyle/>
          <a:p>
            <a:pPr marL="0" indent="0"/>
            <a:r>
              <a:rPr lang="en-US" sz="1200" dirty="0">
                <a:solidFill>
                  <a:schemeClr val="tx1"/>
                </a:solidFill>
              </a:rPr>
              <a:t>Personal budgeting requires a clear view of income, recurring bills, everyday spending, and money set aside for future goals. Separate records can make it difficult to see which commitments are due, how much remains available, and whether spending fits the monthly plan. A fixed bill such as rent needs different tracking from a variable expense such as shopping. Investment purchase cost also differs from current market value, so portfolio records need explicit quantities and reliable price references. The Personal Budget Planner brings these workflows into one application. Users enter financial records, assign category priorities, and monitor limits alongside bill reminders and goal progress. Monthly reports summarize income, expenses, savings, and investments. Linked Indian stocks and mutual funds use provider identifiers for valuation, while other assets retain manual values. The project focuses on transparent calculations and accessible reporting for everyday financial tracking.</a:t>
            </a:r>
          </a:p>
        </p:txBody>
      </p:sp>
      <p:sp>
        <p:nvSpPr>
          <p:cNvPr id="4" name="Slide Number Placeholder 3">
            <a:extLst>
              <a:ext uri="{FF2B5EF4-FFF2-40B4-BE49-F238E27FC236}">
                <a16:creationId xmlns:a16="http://schemas.microsoft.com/office/drawing/2014/main" id="{98D799CA-CD85-8C8B-8DA5-505F7D2494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3</a:t>
            </a:fld>
            <a:endParaRPr lang="en-IN"/>
          </a:p>
        </p:txBody>
      </p:sp>
    </p:spTree>
    <p:extLst>
      <p:ext uri="{BB962C8B-B14F-4D97-AF65-F5344CB8AC3E}">
        <p14:creationId xmlns:p14="http://schemas.microsoft.com/office/powerpoint/2010/main" val="3547093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8A33-38AA-947B-2903-B9E022B1B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C2F0A-2356-EEB1-75A8-4472A36774DA}"/>
              </a:ext>
            </a:extLst>
          </p:cNvPr>
          <p:cNvSpPr>
            <a:spLocks noGrp="1"/>
          </p:cNvSpPr>
          <p:nvPr>
            <p:ph type="title"/>
          </p:nvPr>
        </p:nvSpPr>
        <p:spPr>
          <a:xfrm>
            <a:off x="722313" y="1418167"/>
            <a:ext cx="7772400" cy="1362075"/>
          </a:xfrm>
        </p:spPr>
        <p:txBody>
          <a:bodyPr/>
          <a:lstStyle/>
          <a:p>
            <a:r>
              <a:rPr lang="en-US"/>
              <a:t>Objectives</a:t>
            </a:r>
          </a:p>
        </p:txBody>
      </p:sp>
      <p:sp>
        <p:nvSpPr>
          <p:cNvPr id="3" name="Text Placeholder 2">
            <a:extLst>
              <a:ext uri="{FF2B5EF4-FFF2-40B4-BE49-F238E27FC236}">
                <a16:creationId xmlns:a16="http://schemas.microsoft.com/office/drawing/2014/main" id="{3E6AADC8-05AE-C274-953F-BE13ADD449B7}"/>
              </a:ext>
            </a:extLst>
          </p:cNvPr>
          <p:cNvSpPr>
            <a:spLocks noGrp="1"/>
          </p:cNvSpPr>
          <p:nvPr>
            <p:ph type="body" idx="1"/>
          </p:nvPr>
        </p:nvSpPr>
        <p:spPr>
          <a:xfrm>
            <a:off x="722313" y="3008313"/>
            <a:ext cx="7772400" cy="3200000"/>
          </a:xfrm>
        </p:spPr>
        <p:txBody>
          <a:bodyPr anchor="t"/>
          <a:lstStyle/>
          <a:p>
            <a:pPr marL="228600" indent="-228600">
              <a:buFont typeface=""/>
              <a:buChar char="•"/>
            </a:pPr>
            <a:r>
              <a:rPr lang="en-US" sz="1200" dirty="0">
                <a:solidFill>
                  <a:schemeClr val="tx1"/>
                </a:solidFill>
              </a:rPr>
              <a:t>Provide account registration and JWT login with password hashing and user-scoped financial records.</a:t>
            </a:r>
          </a:p>
          <a:p>
            <a:pPr marL="228600" indent="-228600">
              <a:buFont typeface=""/>
              <a:buChar char="•"/>
            </a:pPr>
            <a:r>
              <a:rPr lang="en-US" sz="1200" dirty="0">
                <a:solidFill>
                  <a:schemeClr val="tx1"/>
                </a:solidFill>
              </a:rPr>
              <a:t>Track monthly income, fixed commitments, and variable expenses with editable transactions and categories.</a:t>
            </a:r>
          </a:p>
          <a:p>
            <a:pPr marL="228600" indent="-228600">
              <a:buFont typeface=""/>
              <a:buChar char="•"/>
            </a:pPr>
            <a:r>
              <a:rPr lang="en-US" sz="1200" dirty="0">
                <a:solidFill>
                  <a:schemeClr val="tx1"/>
                </a:solidFill>
              </a:rPr>
              <a:t>Allocate income by category priority with accurate rounding and preserve explicitly saved zero limits.</a:t>
            </a:r>
          </a:p>
          <a:p>
            <a:pPr marL="228600" indent="-228600">
              <a:buFont typeface=""/>
              <a:buChar char="•"/>
            </a:pPr>
            <a:r>
              <a:rPr lang="en-US" sz="1200" dirty="0">
                <a:solidFill>
                  <a:schemeClr val="tx1"/>
                </a:solidFill>
              </a:rPr>
              <a:t>Track goal contributions and bill payments, including partial payments and overdue balances.</a:t>
            </a:r>
          </a:p>
          <a:p>
            <a:pPr marL="228600" indent="-228600">
              <a:buFont typeface=""/>
              <a:buChar char="•"/>
            </a:pPr>
            <a:r>
              <a:rPr lang="en-US" sz="1200" dirty="0">
                <a:solidFill>
                  <a:schemeClr val="tx1"/>
                </a:solidFill>
              </a:rPr>
              <a:t>Calculate investment amounts and quantities from purchase prices, and refresh supported values without changing cost.</a:t>
            </a:r>
          </a:p>
          <a:p>
            <a:pPr marL="228600" indent="-228600">
              <a:buFont typeface=""/>
              <a:buChar char="•"/>
            </a:pPr>
            <a:r>
              <a:rPr lang="en-US" sz="1200" dirty="0">
                <a:solidFill>
                  <a:schemeClr val="tx1"/>
                </a:solidFill>
              </a:rPr>
              <a:t>Present monthly trends, savings, category spending, and portfolio allocation through charts and reports.</a:t>
            </a:r>
          </a:p>
          <a:p>
            <a:pPr marL="228600" indent="-228600">
              <a:buFont typeface=""/>
              <a:buChar char="•"/>
            </a:pPr>
            <a:r>
              <a:rPr lang="en-US" sz="1200" dirty="0">
                <a:solidFill>
                  <a:schemeClr val="tx1"/>
                </a:solidFill>
              </a:rPr>
              <a:t>Enforce shared validation and investment date limits, with a test panel and responsive desktop/mobile layouts.</a:t>
            </a:r>
          </a:p>
        </p:txBody>
      </p:sp>
      <p:sp>
        <p:nvSpPr>
          <p:cNvPr id="4" name="Slide Number Placeholder 3">
            <a:extLst>
              <a:ext uri="{FF2B5EF4-FFF2-40B4-BE49-F238E27FC236}">
                <a16:creationId xmlns:a16="http://schemas.microsoft.com/office/drawing/2014/main" id="{6D0A5901-F9AA-B671-5442-F69AEF2F0F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4</a:t>
            </a:fld>
            <a:endParaRPr lang="en-IN"/>
          </a:p>
        </p:txBody>
      </p:sp>
    </p:spTree>
    <p:extLst>
      <p:ext uri="{BB962C8B-B14F-4D97-AF65-F5344CB8AC3E}">
        <p14:creationId xmlns:p14="http://schemas.microsoft.com/office/powerpoint/2010/main" val="232201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8093-8782-52AE-6FA1-5AC7AC8DD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2C881-00D8-9107-367F-17864D7ACA2F}"/>
              </a:ext>
            </a:extLst>
          </p:cNvPr>
          <p:cNvSpPr>
            <a:spLocks noGrp="1"/>
          </p:cNvSpPr>
          <p:nvPr>
            <p:ph type="title"/>
          </p:nvPr>
        </p:nvSpPr>
        <p:spPr>
          <a:xfrm>
            <a:off x="722313" y="1418167"/>
            <a:ext cx="7772400" cy="1362075"/>
          </a:xfrm>
        </p:spPr>
        <p:txBody>
          <a:bodyPr/>
          <a:lstStyle/>
          <a:p>
            <a:r>
              <a:rPr lang="en-US"/>
              <a:t>Scope</a:t>
            </a:r>
            <a:br>
              <a:rPr lang="en-US"/>
            </a:br>
            <a:r>
              <a:rPr lang="en-US" b="0"/>
              <a:t>(Key Features Included)</a:t>
            </a:r>
          </a:p>
        </p:txBody>
      </p:sp>
      <p:sp>
        <p:nvSpPr>
          <p:cNvPr id="3" name="Text Placeholder 2">
            <a:extLst>
              <a:ext uri="{FF2B5EF4-FFF2-40B4-BE49-F238E27FC236}">
                <a16:creationId xmlns:a16="http://schemas.microsoft.com/office/drawing/2014/main" id="{145061C6-A0CA-FF8C-6BAD-FF0B3547BDF7}"/>
              </a:ext>
            </a:extLst>
          </p:cNvPr>
          <p:cNvSpPr>
            <a:spLocks noGrp="1"/>
          </p:cNvSpPr>
          <p:nvPr>
            <p:ph type="body" idx="1"/>
          </p:nvPr>
        </p:nvSpPr>
        <p:spPr>
          <a:xfrm>
            <a:off x="688446" y="3092980"/>
            <a:ext cx="7772400" cy="3200000"/>
          </a:xfrm>
        </p:spPr>
        <p:txBody>
          <a:bodyPr anchor="t"/>
          <a:lstStyle/>
          <a:p>
            <a:pPr marL="228600" indent="-228600">
              <a:buFont typeface=""/>
              <a:buChar char="•"/>
            </a:pPr>
            <a:r>
              <a:rPr lang="en-US" sz="1200" dirty="0">
                <a:solidFill>
                  <a:schemeClr val="tx1"/>
                </a:solidFill>
              </a:rPr>
              <a:t>User registration, login/logout, and JWT-based authentication with </a:t>
            </a:r>
            <a:r>
              <a:rPr lang="en-US" sz="1200" dirty="0" err="1">
                <a:solidFill>
                  <a:schemeClr val="tx1"/>
                </a:solidFill>
              </a:rPr>
              <a:t>bcryptjs</a:t>
            </a:r>
            <a:r>
              <a:rPr lang="en-US" sz="1200" dirty="0">
                <a:solidFill>
                  <a:schemeClr val="tx1"/>
                </a:solidFill>
              </a:rPr>
              <a:t> password hashing.</a:t>
            </a:r>
          </a:p>
          <a:p>
            <a:pPr marL="228600" indent="-228600">
              <a:buFont typeface=""/>
              <a:buChar char="•"/>
            </a:pPr>
            <a:r>
              <a:rPr lang="en-US" sz="1200" dirty="0">
                <a:solidFill>
                  <a:schemeClr val="tx1"/>
                </a:solidFill>
              </a:rPr>
              <a:t>Monthly income, fixed commitments, and variable expenses with editable category records.</a:t>
            </a:r>
          </a:p>
          <a:p>
            <a:pPr marL="228600" indent="-228600">
              <a:buFont typeface=""/>
              <a:buChar char="•"/>
            </a:pPr>
            <a:r>
              <a:rPr lang="en-US" sz="1200" dirty="0">
                <a:solidFill>
                  <a:schemeClr val="tx1"/>
                </a:solidFill>
              </a:rPr>
              <a:t>Budget allocation using priority weights of 1 to 4, accurate rounding, and spending-limit alerts.</a:t>
            </a:r>
          </a:p>
          <a:p>
            <a:pPr marL="228600" indent="-228600">
              <a:buFont typeface=""/>
              <a:buChar char="•"/>
            </a:pPr>
            <a:r>
              <a:rPr lang="en-US" sz="1200" dirty="0">
                <a:solidFill>
                  <a:schemeClr val="tx1"/>
                </a:solidFill>
              </a:rPr>
              <a:t>Savings goals with contribution suggestions capped by remaining targets and available savings.</a:t>
            </a:r>
          </a:p>
          <a:p>
            <a:pPr marL="228600" indent="-228600">
              <a:buFont typeface=""/>
              <a:buChar char="•"/>
            </a:pPr>
            <a:r>
              <a:rPr lang="en-US" sz="1200" dirty="0">
                <a:solidFill>
                  <a:schemeClr val="tx1"/>
                </a:solidFill>
              </a:rPr>
              <a:t>Dashboard and reports with monthly trends, spending breakdowns, savings, and asset allocation charts.</a:t>
            </a:r>
          </a:p>
          <a:p>
            <a:pPr marL="228600" indent="-228600">
              <a:buFont typeface=""/>
              <a:buChar char="•"/>
            </a:pPr>
            <a:r>
              <a:rPr lang="en-US" sz="1200" dirty="0">
                <a:solidFill>
                  <a:schemeClr val="tx1"/>
                </a:solidFill>
              </a:rPr>
              <a:t>Calendar reminders with partial payments, overdue balances, and duplicate quick-payment protection.</a:t>
            </a:r>
          </a:p>
          <a:p>
            <a:pPr marL="228600" indent="-228600">
              <a:buFont typeface=""/>
              <a:buChar char="•"/>
            </a:pPr>
            <a:r>
              <a:rPr lang="en-US" sz="1200" dirty="0">
                <a:solidFill>
                  <a:schemeClr val="tx1"/>
                </a:solidFill>
              </a:rPr>
              <a:t>Purchase-price conversion for all eight asset types, quantity provenance, and supported portfolio value/ROI updates.</a:t>
            </a:r>
          </a:p>
          <a:p>
            <a:pPr marL="228600" indent="-228600">
              <a:buFont typeface=""/>
              <a:buChar char="•"/>
            </a:pPr>
            <a:r>
              <a:rPr lang="en-US" sz="1200" dirty="0">
                <a:solidFill>
                  <a:schemeClr val="tx1"/>
                </a:solidFill>
              </a:rPr>
              <a:t>Private user records, profile settings, currency preferences, and light/dark themes.</a:t>
            </a:r>
          </a:p>
          <a:p>
            <a:pPr marL="228600" indent="-228600">
              <a:buFont typeface=""/>
              <a:buChar char="•"/>
            </a:pPr>
            <a:r>
              <a:rPr lang="en-US" sz="1200" dirty="0">
                <a:solidFill>
                  <a:schemeClr val="tx1"/>
                </a:solidFill>
              </a:rPr>
              <a:t>Shared validation with field errors, restricted free text, and investment dates no later than today in India.</a:t>
            </a:r>
          </a:p>
        </p:txBody>
      </p:sp>
      <p:sp>
        <p:nvSpPr>
          <p:cNvPr id="4" name="Slide Number Placeholder 3">
            <a:extLst>
              <a:ext uri="{FF2B5EF4-FFF2-40B4-BE49-F238E27FC236}">
                <a16:creationId xmlns:a16="http://schemas.microsoft.com/office/drawing/2014/main" id="{4A8BAD3C-B586-5393-DC4E-826D946507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5</a:t>
            </a:fld>
            <a:endParaRPr lang="en-IN"/>
          </a:p>
        </p:txBody>
      </p:sp>
    </p:spTree>
    <p:extLst>
      <p:ext uri="{BB962C8B-B14F-4D97-AF65-F5344CB8AC3E}">
        <p14:creationId xmlns:p14="http://schemas.microsoft.com/office/powerpoint/2010/main" val="319333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7DC19-533F-2C23-847C-B1A1396F8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A5B42-E20F-77CC-D0FF-60C1146FB9A3}"/>
              </a:ext>
            </a:extLst>
          </p:cNvPr>
          <p:cNvSpPr>
            <a:spLocks noGrp="1"/>
          </p:cNvSpPr>
          <p:nvPr>
            <p:ph type="title"/>
          </p:nvPr>
        </p:nvSpPr>
        <p:spPr>
          <a:xfrm>
            <a:off x="722313" y="1418167"/>
            <a:ext cx="7772400" cy="1362075"/>
          </a:xfrm>
        </p:spPr>
        <p:txBody>
          <a:bodyPr/>
          <a:lstStyle/>
          <a:p>
            <a:r>
              <a:rPr lang="en-US"/>
              <a:t>Scope</a:t>
            </a:r>
            <a:br>
              <a:rPr lang="en-US"/>
            </a:br>
            <a:r>
              <a:rPr lang="en-US" b="0"/>
              <a:t>(Project Boundaries)</a:t>
            </a:r>
          </a:p>
        </p:txBody>
      </p:sp>
      <p:sp>
        <p:nvSpPr>
          <p:cNvPr id="3" name="Text Placeholder 2">
            <a:extLst>
              <a:ext uri="{FF2B5EF4-FFF2-40B4-BE49-F238E27FC236}">
                <a16:creationId xmlns:a16="http://schemas.microsoft.com/office/drawing/2014/main" id="{BFEDC866-3080-E28F-F489-A704D661EE0A}"/>
              </a:ext>
            </a:extLst>
          </p:cNvPr>
          <p:cNvSpPr>
            <a:spLocks noGrp="1"/>
          </p:cNvSpPr>
          <p:nvPr>
            <p:ph type="body" idx="1"/>
          </p:nvPr>
        </p:nvSpPr>
        <p:spPr>
          <a:xfrm>
            <a:off x="688446" y="3431647"/>
            <a:ext cx="7772400" cy="3200000"/>
          </a:xfrm>
        </p:spPr>
        <p:txBody>
          <a:bodyPr anchor="t"/>
          <a:lstStyle/>
          <a:p>
            <a:pPr marL="228600" indent="-228600">
              <a:buFont typeface=""/>
              <a:buChar char="•"/>
            </a:pPr>
            <a:r>
              <a:rPr lang="en-US" sz="1200" dirty="0">
                <a:solidFill>
                  <a:schemeClr val="tx1"/>
                </a:solidFill>
              </a:rPr>
              <a:t>Users enter transactions manually. Bank imports, SMS/OCR capture, payment processing, and external calendar sync are outside the current build.</a:t>
            </a:r>
          </a:p>
          <a:p>
            <a:pPr marL="228600" indent="-228600">
              <a:buFont typeface=""/>
              <a:buChar char="•"/>
            </a:pPr>
            <a:r>
              <a:rPr lang="en-US" sz="1200" dirty="0">
                <a:solidFill>
                  <a:schemeClr val="tx1"/>
                </a:solidFill>
              </a:rPr>
              <a:t>Budgets use fixed rules, not machine learning. The validation panel tests inputs without saving records or checking credentials.</a:t>
            </a:r>
          </a:p>
          <a:p>
            <a:pPr marL="228600" indent="-228600">
              <a:buFont typeface=""/>
              <a:buChar char="•"/>
            </a:pPr>
            <a:r>
              <a:rPr lang="en-US" sz="1200" dirty="0">
                <a:solidFill>
                  <a:schemeClr val="tx1"/>
                </a:solidFill>
              </a:rPr>
              <a:t>Market refresh supports identified Indian stocks and funds in INR portfolios. Failed or unsupported updates retain saved values.</a:t>
            </a:r>
          </a:p>
          <a:p>
            <a:pPr marL="228600" indent="-228600">
              <a:buFont typeface=""/>
              <a:buChar char="•"/>
            </a:pPr>
            <a:r>
              <a:rPr lang="en-US" sz="1200" dirty="0">
                <a:solidFill>
                  <a:schemeClr val="tx1"/>
                </a:solidFill>
              </a:rPr>
              <a:t>Reports have no PDF/Excel export or currency conversion. Quotes may be delayed, fund NAVs are daily, and returns exclude fees, taxes and </a:t>
            </a:r>
            <a:r>
              <a:rPr lang="en-US" sz="1200">
                <a:solidFill>
                  <a:schemeClr val="tx1"/>
                </a:solidFill>
              </a:rPr>
              <a:t>dividends.</a:t>
            </a:r>
            <a:endParaRPr lang="en-US" sz="1200" dirty="0">
              <a:solidFill>
                <a:schemeClr val="tx1"/>
              </a:solidFill>
            </a:endParaRPr>
          </a:p>
        </p:txBody>
      </p:sp>
      <p:sp>
        <p:nvSpPr>
          <p:cNvPr id="4" name="Slide Number Placeholder 3">
            <a:extLst>
              <a:ext uri="{FF2B5EF4-FFF2-40B4-BE49-F238E27FC236}">
                <a16:creationId xmlns:a16="http://schemas.microsoft.com/office/drawing/2014/main" id="{FEA2756E-DB7E-A7F9-5BF9-DFE630B195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6</a:t>
            </a:fld>
            <a:endParaRPr lang="en-IN"/>
          </a:p>
        </p:txBody>
      </p:sp>
    </p:spTree>
    <p:extLst>
      <p:ext uri="{BB962C8B-B14F-4D97-AF65-F5344CB8AC3E}">
        <p14:creationId xmlns:p14="http://schemas.microsoft.com/office/powerpoint/2010/main" val="1976557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2834-2BE5-05E3-B475-971D7E619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07715-A2D5-A070-081F-B03D8DC05AFD}"/>
              </a:ext>
            </a:extLst>
          </p:cNvPr>
          <p:cNvSpPr>
            <a:spLocks noGrp="1"/>
          </p:cNvSpPr>
          <p:nvPr>
            <p:ph type="title"/>
          </p:nvPr>
        </p:nvSpPr>
        <p:spPr>
          <a:xfrm>
            <a:off x="722313" y="1418167"/>
            <a:ext cx="7772400" cy="1362075"/>
          </a:xfrm>
        </p:spPr>
        <p:txBody>
          <a:bodyPr/>
          <a:lstStyle/>
          <a:p>
            <a:r>
              <a:rPr lang="en-US"/>
              <a:t>Literature Survey</a:t>
            </a:r>
            <a:br>
              <a:rPr lang="en-US"/>
            </a:br>
            <a:r>
              <a:rPr lang="en-US" b="0"/>
              <a:t>(Design Context)</a:t>
            </a:r>
          </a:p>
        </p:txBody>
      </p:sp>
      <p:sp>
        <p:nvSpPr>
          <p:cNvPr id="3" name="Text Placeholder 2">
            <a:extLst>
              <a:ext uri="{FF2B5EF4-FFF2-40B4-BE49-F238E27FC236}">
                <a16:creationId xmlns:a16="http://schemas.microsoft.com/office/drawing/2014/main" id="{9EDF2EDF-5A2D-E828-C3C2-BF0FABFF9109}"/>
              </a:ext>
            </a:extLst>
          </p:cNvPr>
          <p:cNvSpPr>
            <a:spLocks noGrp="1"/>
          </p:cNvSpPr>
          <p:nvPr>
            <p:ph type="body" idx="1"/>
          </p:nvPr>
        </p:nvSpPr>
        <p:spPr>
          <a:xfrm>
            <a:off x="688446" y="3431647"/>
            <a:ext cx="7772400" cy="3200000"/>
          </a:xfrm>
        </p:spPr>
        <p:txBody>
          <a:bodyPr anchor="t"/>
          <a:lstStyle/>
          <a:p>
            <a:pPr marL="228600" indent="-228600">
              <a:buFont typeface=""/>
              <a:buChar char="•"/>
            </a:pPr>
            <a:r>
              <a:rPr lang="en-US" sz="1200" dirty="0">
                <a:solidFill>
                  <a:schemeClr val="tx1"/>
                </a:solidFill>
              </a:rPr>
              <a:t>Manual ledgers and spreadsheets offer flexible records. Consistent categories, date rules and rounding require explicit design.</a:t>
            </a:r>
          </a:p>
          <a:p>
            <a:pPr marL="228600" indent="-228600">
              <a:buFont typeface=""/>
              <a:buChar char="•"/>
            </a:pPr>
            <a:r>
              <a:rPr lang="en-US" sz="1200" dirty="0">
                <a:solidFill>
                  <a:schemeClr val="tx1"/>
                </a:solidFill>
              </a:rPr>
              <a:t>YNAB describes a method for assigning available money to spending priorities. This project uses transparent category weights.</a:t>
            </a:r>
          </a:p>
          <a:p>
            <a:pPr marL="228600" indent="-228600">
              <a:buFont typeface=""/>
              <a:buChar char="•"/>
            </a:pPr>
            <a:r>
              <a:rPr lang="en-US" sz="1200" dirty="0">
                <a:solidFill>
                  <a:schemeClr val="tx1"/>
                </a:solidFill>
              </a:rPr>
              <a:t>React documentation supports reusable interface components. Express documents routing and middleware for the API layer.</a:t>
            </a:r>
          </a:p>
          <a:p>
            <a:pPr marL="228600" indent="-228600">
              <a:buFont typeface=""/>
              <a:buChar char="•"/>
            </a:pPr>
            <a:r>
              <a:rPr lang="en-US" sz="1200" dirty="0">
                <a:solidFill>
                  <a:schemeClr val="tx1"/>
                </a:solidFill>
              </a:rPr>
              <a:t>The MySQL reference manual informs relational storage. The project separates purchase cost, saved quantity and market value.</a:t>
            </a:r>
          </a:p>
          <a:p>
            <a:pPr marL="228600" indent="-228600">
              <a:buFont typeface=""/>
              <a:buChar char="•"/>
            </a:pPr>
            <a:r>
              <a:rPr lang="en-US" sz="1200" dirty="0">
                <a:solidFill>
                  <a:schemeClr val="tx1"/>
                </a:solidFill>
              </a:rPr>
              <a:t>These references guide the design. Automated bank imports, OCR and machine-learning classification remain future work.</a:t>
            </a:r>
          </a:p>
        </p:txBody>
      </p:sp>
      <p:sp>
        <p:nvSpPr>
          <p:cNvPr id="4" name="Slide Number Placeholder 3">
            <a:extLst>
              <a:ext uri="{FF2B5EF4-FFF2-40B4-BE49-F238E27FC236}">
                <a16:creationId xmlns:a16="http://schemas.microsoft.com/office/drawing/2014/main" id="{4B3EC33D-5F85-3D3D-3C3A-7D4E7BAA25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7</a:t>
            </a:fld>
            <a:endParaRPr lang="en-IN"/>
          </a:p>
        </p:txBody>
      </p:sp>
    </p:spTree>
    <p:extLst>
      <p:ext uri="{BB962C8B-B14F-4D97-AF65-F5344CB8AC3E}">
        <p14:creationId xmlns:p14="http://schemas.microsoft.com/office/powerpoint/2010/main" val="2186553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45732-AE9C-C240-8935-04CDE9273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CA952-382F-6F63-4C2E-E985FFB069E5}"/>
              </a:ext>
            </a:extLst>
          </p:cNvPr>
          <p:cNvSpPr>
            <a:spLocks noGrp="1"/>
          </p:cNvSpPr>
          <p:nvPr>
            <p:ph type="title"/>
          </p:nvPr>
        </p:nvSpPr>
        <p:spPr>
          <a:xfrm>
            <a:off x="722313" y="1418167"/>
            <a:ext cx="7772400" cy="1362075"/>
          </a:xfrm>
        </p:spPr>
        <p:txBody>
          <a:bodyPr/>
          <a:lstStyle/>
          <a:p>
            <a:r>
              <a:rPr lang="en-US"/>
              <a:t>Proposed System</a:t>
            </a:r>
            <a:br>
              <a:rPr lang="en-US"/>
            </a:br>
            <a:r>
              <a:rPr lang="en-US" b="0"/>
              <a:t>(Platform Architecture)</a:t>
            </a:r>
          </a:p>
        </p:txBody>
      </p:sp>
      <p:sp>
        <p:nvSpPr>
          <p:cNvPr id="3" name="Text Placeholder 2">
            <a:extLst>
              <a:ext uri="{FF2B5EF4-FFF2-40B4-BE49-F238E27FC236}">
                <a16:creationId xmlns:a16="http://schemas.microsoft.com/office/drawing/2014/main" id="{94F9AE95-A72B-F3B6-D52F-D566B8396184}"/>
              </a:ext>
            </a:extLst>
          </p:cNvPr>
          <p:cNvSpPr>
            <a:spLocks noGrp="1"/>
          </p:cNvSpPr>
          <p:nvPr>
            <p:ph type="body" idx="1"/>
          </p:nvPr>
        </p:nvSpPr>
        <p:spPr>
          <a:xfrm>
            <a:off x="688446" y="3169180"/>
            <a:ext cx="7772400" cy="3200000"/>
          </a:xfrm>
        </p:spPr>
        <p:txBody>
          <a:bodyPr anchor="t"/>
          <a:lstStyle/>
          <a:p>
            <a:pPr marL="228600" indent="-228600">
              <a:buFont typeface=""/>
              <a:buChar char="•"/>
            </a:pPr>
            <a:r>
              <a:rPr lang="en-US" sz="1200" dirty="0">
                <a:solidFill>
                  <a:schemeClr val="tx1"/>
                </a:solidFill>
              </a:rPr>
              <a:t>The three-tier system uses React 18 with Vite, a Node.js/Express REST API, and MySQL through the mysql2 driver.</a:t>
            </a:r>
          </a:p>
          <a:p>
            <a:pPr marL="228600" indent="-228600">
              <a:buFont typeface=""/>
              <a:buChar char="•"/>
            </a:pPr>
            <a:r>
              <a:rPr lang="en-US" sz="1200" dirty="0">
                <a:solidFill>
                  <a:schemeClr val="tx1"/>
                </a:solidFill>
              </a:rPr>
              <a:t>Tailwind CSS styles the interface, Recharts renders charts, and </a:t>
            </a:r>
            <a:r>
              <a:rPr lang="en-US" sz="1200" dirty="0" err="1">
                <a:solidFill>
                  <a:schemeClr val="tx1"/>
                </a:solidFill>
              </a:rPr>
              <a:t>Axios</a:t>
            </a:r>
            <a:r>
              <a:rPr lang="en-US" sz="1200" dirty="0">
                <a:solidFill>
                  <a:schemeClr val="tx1"/>
                </a:solidFill>
              </a:rPr>
              <a:t> sends authenticated API requests.</a:t>
            </a:r>
          </a:p>
          <a:p>
            <a:pPr marL="228600" indent="-228600">
              <a:buFont typeface=""/>
              <a:buChar char="•"/>
            </a:pPr>
            <a:r>
              <a:rPr lang="en-US" sz="1200" dirty="0">
                <a:solidFill>
                  <a:schemeClr val="tx1"/>
                </a:solidFill>
              </a:rPr>
              <a:t>Protected pages cover income, fixed commitments, variable expenses, budgets, goals, bills, investments, and reports.</a:t>
            </a:r>
          </a:p>
          <a:p>
            <a:pPr marL="228600" indent="-228600">
              <a:buFont typeface=""/>
              <a:buChar char="•"/>
            </a:pPr>
            <a:r>
              <a:rPr lang="en-US" sz="1200" dirty="0">
                <a:solidFill>
                  <a:schemeClr val="tx1"/>
                </a:solidFill>
              </a:rPr>
              <a:t>Shared validators check inputs and dates. Calculation utilities handle purchases, budgets and goals, while services fetch quotes.</a:t>
            </a:r>
          </a:p>
          <a:p>
            <a:pPr marL="228600" indent="-228600">
              <a:buFont typeface=""/>
              <a:buChar char="•"/>
            </a:pPr>
            <a:r>
              <a:rPr lang="en-US" sz="1200" dirty="0">
                <a:solidFill>
                  <a:schemeClr val="tx1"/>
                </a:solidFill>
              </a:rPr>
              <a:t>JWT middleware authenticates requests, </a:t>
            </a:r>
            <a:r>
              <a:rPr lang="en-US" sz="1200" dirty="0" err="1">
                <a:solidFill>
                  <a:schemeClr val="tx1"/>
                </a:solidFill>
              </a:rPr>
              <a:t>bcryptjs</a:t>
            </a:r>
            <a:r>
              <a:rPr lang="en-US" sz="1200" dirty="0">
                <a:solidFill>
                  <a:schemeClr val="tx1"/>
                </a:solidFill>
              </a:rPr>
              <a:t> hashes passwords, and parameterized SQL scopes financial queries to each user.</a:t>
            </a:r>
          </a:p>
        </p:txBody>
      </p:sp>
      <p:sp>
        <p:nvSpPr>
          <p:cNvPr id="4" name="Slide Number Placeholder 3">
            <a:extLst>
              <a:ext uri="{FF2B5EF4-FFF2-40B4-BE49-F238E27FC236}">
                <a16:creationId xmlns:a16="http://schemas.microsoft.com/office/drawing/2014/main" id="{6DEC5988-0E31-F794-54DC-722E925E8D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8</a:t>
            </a:fld>
            <a:endParaRPr lang="en-IN"/>
          </a:p>
        </p:txBody>
      </p:sp>
    </p:spTree>
    <p:extLst>
      <p:ext uri="{BB962C8B-B14F-4D97-AF65-F5344CB8AC3E}">
        <p14:creationId xmlns:p14="http://schemas.microsoft.com/office/powerpoint/2010/main" val="3377285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98AD9-C79F-8D40-C323-3E31BAD62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6CC22-9345-A869-BF02-5FB1CDED1295}"/>
              </a:ext>
            </a:extLst>
          </p:cNvPr>
          <p:cNvSpPr>
            <a:spLocks noGrp="1"/>
          </p:cNvSpPr>
          <p:nvPr>
            <p:ph type="title"/>
          </p:nvPr>
        </p:nvSpPr>
        <p:spPr>
          <a:xfrm>
            <a:off x="722313" y="1418167"/>
            <a:ext cx="7772400" cy="1362075"/>
          </a:xfrm>
        </p:spPr>
        <p:txBody>
          <a:bodyPr/>
          <a:lstStyle/>
          <a:p>
            <a:r>
              <a:rPr lang="en-US"/>
              <a:t>Proposed System</a:t>
            </a:r>
            <a:br>
              <a:rPr lang="en-US"/>
            </a:br>
            <a:r>
              <a:rPr lang="en-US" b="0"/>
              <a:t>(User Model)</a:t>
            </a:r>
          </a:p>
        </p:txBody>
      </p:sp>
      <p:sp>
        <p:nvSpPr>
          <p:cNvPr id="3" name="Text Placeholder 2">
            <a:extLst>
              <a:ext uri="{FF2B5EF4-FFF2-40B4-BE49-F238E27FC236}">
                <a16:creationId xmlns:a16="http://schemas.microsoft.com/office/drawing/2014/main" id="{1498D61F-1B4A-8B93-6CAF-0DFBD7D9DA9A}"/>
              </a:ext>
            </a:extLst>
          </p:cNvPr>
          <p:cNvSpPr>
            <a:spLocks noGrp="1"/>
          </p:cNvSpPr>
          <p:nvPr>
            <p:ph type="body" idx="1"/>
          </p:nvPr>
        </p:nvSpPr>
        <p:spPr>
          <a:xfrm>
            <a:off x="688446" y="3431647"/>
            <a:ext cx="7772400" cy="3200000"/>
          </a:xfrm>
        </p:spPr>
        <p:txBody>
          <a:bodyPr anchor="t"/>
          <a:lstStyle/>
          <a:p>
            <a:pPr marL="228600" indent="-228600">
              <a:buFont typeface=""/>
              <a:buChar char="•"/>
            </a:pPr>
            <a:r>
              <a:rPr lang="en-US" sz="1200" dirty="0">
                <a:solidFill>
                  <a:schemeClr val="tx1"/>
                </a:solidFill>
              </a:rPr>
              <a:t>Each user registers an account and signs in with JWT authentication before opening the financial workspace.</a:t>
            </a:r>
          </a:p>
          <a:p>
            <a:pPr marL="228600" indent="-228600">
              <a:buFont typeface=""/>
              <a:buChar char="•"/>
            </a:pPr>
            <a:r>
              <a:rPr lang="en-US" sz="1200" dirty="0">
                <a:solidFill>
                  <a:schemeClr val="tx1"/>
                </a:solidFill>
              </a:rPr>
              <a:t>Income, expenses, categories, budgets, goals, investments, and bill reminders belong to the signed-in user's account.</a:t>
            </a:r>
          </a:p>
          <a:p>
            <a:pPr marL="228600" indent="-228600">
              <a:buFont typeface=""/>
              <a:buChar char="•"/>
            </a:pPr>
            <a:r>
              <a:rPr lang="en-US" sz="1200" dirty="0">
                <a:solidFill>
                  <a:schemeClr val="tx1"/>
                </a:solidFill>
              </a:rPr>
              <a:t>Settings manages account preferences and offers a Validation Test Panel that checks inputs without saving financial records.</a:t>
            </a:r>
          </a:p>
          <a:p>
            <a:pPr marL="228600" indent="-228600">
              <a:buFont typeface=""/>
              <a:buChar char="•"/>
            </a:pPr>
            <a:r>
              <a:rPr lang="en-US" sz="1200" dirty="0">
                <a:solidFill>
                  <a:schemeClr val="tx1"/>
                </a:solidFill>
              </a:rPr>
              <a:t>Users confirm estimated quantities before live pricing. Owner-accepted quantities still require an exact supported instrument.</a:t>
            </a:r>
          </a:p>
          <a:p>
            <a:pPr marL="228600" indent="-228600">
              <a:buFont typeface=""/>
              <a:buChar char="•"/>
            </a:pPr>
            <a:r>
              <a:rPr lang="en-US" sz="1200" dirty="0">
                <a:solidFill>
                  <a:schemeClr val="tx1"/>
                </a:solidFill>
              </a:rPr>
              <a:t>Backend queries check user ownership when reading, editing, or deleting financial records.</a:t>
            </a:r>
          </a:p>
        </p:txBody>
      </p:sp>
      <p:sp>
        <p:nvSpPr>
          <p:cNvPr id="4" name="Slide Number Placeholder 3">
            <a:extLst>
              <a:ext uri="{FF2B5EF4-FFF2-40B4-BE49-F238E27FC236}">
                <a16:creationId xmlns:a16="http://schemas.microsoft.com/office/drawing/2014/main" id="{D1C2068F-DC54-20EA-0A23-90537D5798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9</a:t>
            </a:fld>
            <a:endParaRPr lang="en-IN"/>
          </a:p>
        </p:txBody>
      </p:sp>
    </p:spTree>
    <p:extLst>
      <p:ext uri="{BB962C8B-B14F-4D97-AF65-F5344CB8AC3E}">
        <p14:creationId xmlns:p14="http://schemas.microsoft.com/office/powerpoint/2010/main" val="993095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F4CF-6832-87C0-8814-1971383D3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8C7E4-A1F8-F523-2898-29F93EAE5115}"/>
              </a:ext>
            </a:extLst>
          </p:cNvPr>
          <p:cNvSpPr>
            <a:spLocks noGrp="1"/>
          </p:cNvSpPr>
          <p:nvPr>
            <p:ph type="title"/>
          </p:nvPr>
        </p:nvSpPr>
        <p:spPr>
          <a:xfrm>
            <a:off x="722313" y="1418167"/>
            <a:ext cx="7772400" cy="1362075"/>
          </a:xfrm>
        </p:spPr>
        <p:txBody>
          <a:bodyPr/>
          <a:lstStyle/>
          <a:p>
            <a:r>
              <a:rPr lang="en-US"/>
              <a:t>Methodology</a:t>
            </a:r>
          </a:p>
        </p:txBody>
      </p:sp>
      <p:sp>
        <p:nvSpPr>
          <p:cNvPr id="3" name="Text Placeholder 2">
            <a:extLst>
              <a:ext uri="{FF2B5EF4-FFF2-40B4-BE49-F238E27FC236}">
                <a16:creationId xmlns:a16="http://schemas.microsoft.com/office/drawing/2014/main" id="{D9A1F3D3-A014-B5D0-1735-7452781D4D00}"/>
              </a:ext>
            </a:extLst>
          </p:cNvPr>
          <p:cNvSpPr>
            <a:spLocks noGrp="1"/>
          </p:cNvSpPr>
          <p:nvPr>
            <p:ph type="body" idx="1"/>
          </p:nvPr>
        </p:nvSpPr>
        <p:spPr>
          <a:xfrm>
            <a:off x="688446" y="3177647"/>
            <a:ext cx="7772400" cy="3200000"/>
          </a:xfrm>
        </p:spPr>
        <p:txBody>
          <a:bodyPr anchor="t"/>
          <a:lstStyle/>
          <a:p>
            <a:pPr marL="228600" indent="-228600">
              <a:buFont typeface=""/>
              <a:buChar char="•"/>
            </a:pPr>
            <a:r>
              <a:rPr lang="en-US" sz="1200" dirty="0">
                <a:solidFill>
                  <a:schemeClr val="tx1"/>
                </a:solidFill>
              </a:rPr>
              <a:t>Phase 1: Modeled users, transactions, categories, budgets, goals, investments, and bill reminders in MySQL.</a:t>
            </a:r>
          </a:p>
          <a:p>
            <a:pPr marL="228600" indent="-228600">
              <a:buFont typeface=""/>
              <a:buChar char="•"/>
            </a:pPr>
            <a:r>
              <a:rPr lang="en-US" sz="1200" dirty="0">
                <a:solidFill>
                  <a:schemeClr val="tx1"/>
                </a:solidFill>
              </a:rPr>
              <a:t>Phase 2: Built Express REST APIs with JWT authentication, </a:t>
            </a:r>
            <a:r>
              <a:rPr lang="en-US" sz="1200" dirty="0" err="1">
                <a:solidFill>
                  <a:schemeClr val="tx1"/>
                </a:solidFill>
              </a:rPr>
              <a:t>bcryptjs</a:t>
            </a:r>
            <a:r>
              <a:rPr lang="en-US" sz="1200" dirty="0">
                <a:solidFill>
                  <a:schemeClr val="tx1"/>
                </a:solidFill>
              </a:rPr>
              <a:t> password hashing, and user-scoped SQL queries.</a:t>
            </a:r>
          </a:p>
          <a:p>
            <a:pPr marL="228600" indent="-228600">
              <a:buFont typeface=""/>
              <a:buChar char="•"/>
            </a:pPr>
            <a:r>
              <a:rPr lang="en-US" sz="1200" dirty="0">
                <a:solidFill>
                  <a:schemeClr val="tx1"/>
                </a:solidFill>
              </a:rPr>
              <a:t>Phase 3: Added shared character/date rules, accurate budget allocation, capped goals and linked calendar payments.</a:t>
            </a:r>
          </a:p>
          <a:p>
            <a:pPr marL="228600" indent="-228600">
              <a:buFont typeface=""/>
              <a:buChar char="•"/>
            </a:pPr>
            <a:r>
              <a:rPr lang="en-US" sz="1200" dirty="0">
                <a:solidFill>
                  <a:schemeClr val="tx1"/>
                </a:solidFill>
              </a:rPr>
              <a:t>Phase 4: Developed React pages with Tailwind CSS, </a:t>
            </a:r>
            <a:r>
              <a:rPr lang="en-US" sz="1200" dirty="0" err="1">
                <a:solidFill>
                  <a:schemeClr val="tx1"/>
                </a:solidFill>
              </a:rPr>
              <a:t>Axios</a:t>
            </a:r>
            <a:r>
              <a:rPr lang="en-US" sz="1200" dirty="0">
                <a:solidFill>
                  <a:schemeClr val="tx1"/>
                </a:solidFill>
              </a:rPr>
              <a:t> API calls, protected routing, and Recharts visualizations.</a:t>
            </a:r>
          </a:p>
          <a:p>
            <a:pPr marL="228600" indent="-228600">
              <a:buFont typeface=""/>
              <a:buChar char="•"/>
            </a:pPr>
            <a:r>
              <a:rPr lang="en-US" sz="1200" dirty="0">
                <a:solidFill>
                  <a:schemeClr val="tx1"/>
                </a:solidFill>
              </a:rPr>
              <a:t>Phase 5: Added saved purchase prices, amount/unit conversion, quantity provenance and portfolio quote refresh.</a:t>
            </a:r>
          </a:p>
          <a:p>
            <a:pPr marL="228600" indent="-228600">
              <a:buFont typeface=""/>
              <a:buChar char="•"/>
            </a:pPr>
            <a:r>
              <a:rPr lang="en-US" sz="1200" dirty="0">
                <a:solidFill>
                  <a:schemeClr val="tx1"/>
                </a:solidFill>
              </a:rPr>
              <a:t>Phase 6: Passed 68 regression tests, 24 API groups and 125 validation examples, with focused date/layout browser checks.</a:t>
            </a:r>
          </a:p>
        </p:txBody>
      </p:sp>
      <p:sp>
        <p:nvSpPr>
          <p:cNvPr id="4" name="Slide Number Placeholder 3">
            <a:extLst>
              <a:ext uri="{FF2B5EF4-FFF2-40B4-BE49-F238E27FC236}">
                <a16:creationId xmlns:a16="http://schemas.microsoft.com/office/drawing/2014/main" id="{03AFCA01-F90E-65F6-125E-5EB745F308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10</a:t>
            </a:fld>
            <a:endParaRPr lang="en-IN"/>
          </a:p>
        </p:txBody>
      </p:sp>
    </p:spTree>
    <p:extLst>
      <p:ext uri="{BB962C8B-B14F-4D97-AF65-F5344CB8AC3E}">
        <p14:creationId xmlns:p14="http://schemas.microsoft.com/office/powerpoint/2010/main" val="3554320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1956-21CB-7929-B572-67A4483D6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42199-2305-9D26-8C6B-CFACCFA2236A}"/>
              </a:ext>
            </a:extLst>
          </p:cNvPr>
          <p:cNvSpPr>
            <a:spLocks noGrp="1"/>
          </p:cNvSpPr>
          <p:nvPr>
            <p:ph type="title"/>
          </p:nvPr>
        </p:nvSpPr>
        <p:spPr>
          <a:xfrm>
            <a:off x="722313" y="1418167"/>
            <a:ext cx="7772400" cy="1362075"/>
          </a:xfrm>
        </p:spPr>
        <p:txBody>
          <a:bodyPr/>
          <a:lstStyle/>
          <a:p>
            <a:r>
              <a:rPr lang="en-US"/>
              <a:t>Dataset</a:t>
            </a:r>
            <a:br>
              <a:rPr lang="en-US"/>
            </a:br>
            <a:r>
              <a:rPr lang="en-US" b="0"/>
              <a:t>(Financial Records &amp; Market Data)</a:t>
            </a:r>
          </a:p>
        </p:txBody>
      </p:sp>
      <p:sp>
        <p:nvSpPr>
          <p:cNvPr id="3" name="Text Placeholder 2">
            <a:extLst>
              <a:ext uri="{FF2B5EF4-FFF2-40B4-BE49-F238E27FC236}">
                <a16:creationId xmlns:a16="http://schemas.microsoft.com/office/drawing/2014/main" id="{4142262E-AC14-2DF3-239E-9BBD389F8BAA}"/>
              </a:ext>
            </a:extLst>
          </p:cNvPr>
          <p:cNvSpPr>
            <a:spLocks noGrp="1"/>
          </p:cNvSpPr>
          <p:nvPr>
            <p:ph type="body" idx="1"/>
          </p:nvPr>
        </p:nvSpPr>
        <p:spPr>
          <a:xfrm>
            <a:off x="688446" y="3431647"/>
            <a:ext cx="7772400" cy="3200000"/>
          </a:xfrm>
        </p:spPr>
        <p:txBody>
          <a:bodyPr anchor="t"/>
          <a:lstStyle/>
          <a:p>
            <a:pPr marL="228600" indent="-228600">
              <a:buFont typeface=""/>
              <a:buChar char="•"/>
            </a:pPr>
            <a:r>
              <a:rPr lang="en-US" sz="1200" dirty="0">
                <a:solidFill>
                  <a:schemeClr val="tx1"/>
                </a:solidFill>
              </a:rPr>
              <a:t>User-entered records supply the financial history. Supported instrument quotes supply later market valuations.</a:t>
            </a:r>
          </a:p>
          <a:p>
            <a:pPr marL="228600" indent="-228600">
              <a:buFont typeface=""/>
              <a:buChar char="•"/>
            </a:pPr>
            <a:r>
              <a:rPr lang="en-US" sz="1200" dirty="0">
                <a:solidFill>
                  <a:schemeClr val="tx1"/>
                </a:solidFill>
              </a:rPr>
              <a:t>Profiles: Account details, hashed passwords, preferred currency, salary day, and theme settings.</a:t>
            </a:r>
          </a:p>
          <a:p>
            <a:pPr marL="228600" indent="-228600">
              <a:buFont typeface=""/>
              <a:buChar char="•"/>
            </a:pPr>
            <a:r>
              <a:rPr lang="en-US" sz="1200" dirty="0">
                <a:solidFill>
                  <a:schemeClr val="tx1"/>
                </a:solidFill>
              </a:rPr>
              <a:t>Transactions: Amounts, sources, categories and reminder links. Investment dates cannot exceed today in India.</a:t>
            </a:r>
          </a:p>
          <a:p>
            <a:pPr marL="228600" indent="-228600">
              <a:buFont typeface=""/>
              <a:buChar char="•"/>
            </a:pPr>
            <a:r>
              <a:rPr lang="en-US" sz="1200" dirty="0">
                <a:solidFill>
                  <a:schemeClr val="tx1"/>
                </a:solidFill>
              </a:rPr>
              <a:t>Planning: Category priorities, explicit budget limits, goal targets, saved amounts, and recurring or one-time reminders.</a:t>
            </a:r>
          </a:p>
          <a:p>
            <a:pPr marL="228600" indent="-228600">
              <a:buFont typeface=""/>
              <a:buChar char="•"/>
            </a:pPr>
            <a:r>
              <a:rPr lang="en-US" sz="1200" dirty="0">
                <a:solidFill>
                  <a:schemeClr val="tx1"/>
                </a:solidFill>
              </a:rPr>
              <a:t>Investments: Cost, purchase price, quantity provenance, instrument identifier, current value, quote date and status.</a:t>
            </a:r>
          </a:p>
          <a:p>
            <a:pPr marL="228600" indent="-228600">
              <a:buFont typeface=""/>
              <a:buChar char="•"/>
            </a:pPr>
            <a:r>
              <a:rPr lang="en-US" sz="1200" dirty="0">
                <a:solidFill>
                  <a:schemeClr val="tx1"/>
                </a:solidFill>
              </a:rPr>
              <a:t>MySQL stores user-owned records. Shared market quotes supplement linked holdings without replacing manual asset values.</a:t>
            </a:r>
          </a:p>
        </p:txBody>
      </p:sp>
      <p:sp>
        <p:nvSpPr>
          <p:cNvPr id="4" name="Slide Number Placeholder 3">
            <a:extLst>
              <a:ext uri="{FF2B5EF4-FFF2-40B4-BE49-F238E27FC236}">
                <a16:creationId xmlns:a16="http://schemas.microsoft.com/office/drawing/2014/main" id="{82C7758E-D93D-2B04-443C-37EAE5371B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11</a:t>
            </a:fld>
            <a:endParaRPr lang="en-IN"/>
          </a:p>
        </p:txBody>
      </p:sp>
    </p:spTree>
    <p:extLst>
      <p:ext uri="{BB962C8B-B14F-4D97-AF65-F5344CB8AC3E}">
        <p14:creationId xmlns:p14="http://schemas.microsoft.com/office/powerpoint/2010/main" val="4141269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E7F1-27F1-47BB-35FB-C53668C2B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3AAE6-E5B2-E6D6-A757-28B6A6207882}"/>
              </a:ext>
            </a:extLst>
          </p:cNvPr>
          <p:cNvSpPr>
            <a:spLocks noGrp="1"/>
          </p:cNvSpPr>
          <p:nvPr>
            <p:ph type="title"/>
          </p:nvPr>
        </p:nvSpPr>
        <p:spPr>
          <a:xfrm>
            <a:off x="722313" y="1418167"/>
            <a:ext cx="7772400" cy="1362075"/>
          </a:xfrm>
        </p:spPr>
        <p:txBody>
          <a:bodyPr/>
          <a:lstStyle/>
          <a:p>
            <a:r>
              <a:rPr lang="en-US" dirty="0"/>
              <a:t>Software &amp; Hardware Requirements</a:t>
            </a:r>
          </a:p>
        </p:txBody>
      </p:sp>
      <p:sp>
        <p:nvSpPr>
          <p:cNvPr id="3" name="Text Placeholder 2">
            <a:extLst>
              <a:ext uri="{FF2B5EF4-FFF2-40B4-BE49-F238E27FC236}">
                <a16:creationId xmlns:a16="http://schemas.microsoft.com/office/drawing/2014/main" id="{ADFA5CAC-3E8F-7993-1A69-3C2FF4DBBE7B}"/>
              </a:ext>
            </a:extLst>
          </p:cNvPr>
          <p:cNvSpPr>
            <a:spLocks noGrp="1"/>
          </p:cNvSpPr>
          <p:nvPr>
            <p:ph type="body" idx="1"/>
          </p:nvPr>
        </p:nvSpPr>
        <p:spPr>
          <a:xfrm>
            <a:off x="722313" y="3516313"/>
            <a:ext cx="7772400" cy="3200000"/>
          </a:xfrm>
        </p:spPr>
        <p:txBody>
          <a:bodyPr anchor="t"/>
          <a:lstStyle/>
          <a:p>
            <a:pPr marL="228600" indent="-228600">
              <a:buFont typeface=""/>
              <a:buChar char="•"/>
            </a:pPr>
            <a:r>
              <a:rPr lang="en-US" sz="1200" dirty="0">
                <a:solidFill>
                  <a:schemeClr val="tx1"/>
                </a:solidFill>
              </a:rPr>
              <a:t>Software Requirements: </a:t>
            </a:r>
          </a:p>
          <a:p>
            <a:pPr marL="685800" lvl="2" indent="-228600">
              <a:buSzPts val="1800"/>
              <a:buFont typeface="Wingdings"/>
              <a:buChar char="§"/>
            </a:pPr>
            <a:r>
              <a:rPr lang="en-US" sz="1000" dirty="0">
                <a:solidFill>
                  <a:schemeClr val="tx1"/>
                </a:solidFill>
              </a:rPr>
              <a:t>Frontend: React 18, Vite, Tailwind CSS</a:t>
            </a:r>
          </a:p>
          <a:p>
            <a:pPr marL="685800" lvl="2" indent="-228600">
              <a:buSzPts val="1800"/>
              <a:buFont typeface="Wingdings"/>
              <a:buChar char="§"/>
            </a:pPr>
            <a:r>
              <a:rPr lang="en-US" sz="1000" dirty="0">
                <a:solidFill>
                  <a:schemeClr val="tx1"/>
                </a:solidFill>
              </a:rPr>
              <a:t>Backend: Node.js 18+, Express.js</a:t>
            </a:r>
          </a:p>
          <a:p>
            <a:pPr marL="685800" lvl="2" indent="-228600">
              <a:buSzPts val="1800"/>
              <a:buFont typeface="Wingdings"/>
              <a:buChar char="§"/>
            </a:pPr>
            <a:r>
              <a:rPr lang="en-US" sz="1000" dirty="0">
                <a:solidFill>
                  <a:schemeClr val="tx1"/>
                </a:solidFill>
              </a:rPr>
              <a:t>Database: MySQL 8 / MariaDB, mysql2 driver</a:t>
            </a:r>
          </a:p>
          <a:p>
            <a:pPr marL="685800" lvl="2" indent="-228600">
              <a:buSzPts val="1800"/>
              <a:buFont typeface="Wingdings"/>
              <a:buChar char="§"/>
            </a:pPr>
            <a:r>
              <a:rPr lang="en-US" sz="1000" dirty="0">
                <a:solidFill>
                  <a:schemeClr val="tx1"/>
                </a:solidFill>
              </a:rPr>
              <a:t>Authentication &amp; Security: JSON Web Tokens (JWT), </a:t>
            </a:r>
            <a:r>
              <a:rPr lang="en-US" sz="1000" dirty="0" err="1">
                <a:solidFill>
                  <a:schemeClr val="tx1"/>
                </a:solidFill>
              </a:rPr>
              <a:t>bcryptjs</a:t>
            </a:r>
            <a:endParaRPr lang="en-US" sz="1000" dirty="0">
              <a:solidFill>
                <a:schemeClr val="tx1"/>
              </a:solidFill>
            </a:endParaRPr>
          </a:p>
          <a:p>
            <a:pPr marL="685800" lvl="2" indent="-228600">
              <a:buSzPts val="1800"/>
              <a:buFont typeface="Wingdings"/>
              <a:buChar char="§"/>
            </a:pPr>
            <a:r>
              <a:rPr lang="en-US" sz="1000" dirty="0">
                <a:solidFill>
                  <a:schemeClr val="tx1"/>
                </a:solidFill>
              </a:rPr>
              <a:t>Supporting Libraries: </a:t>
            </a:r>
            <a:r>
              <a:rPr lang="en-US" sz="1000" dirty="0" err="1">
                <a:solidFill>
                  <a:schemeClr val="tx1"/>
                </a:solidFill>
              </a:rPr>
              <a:t>Axios</a:t>
            </a:r>
            <a:r>
              <a:rPr lang="en-US" sz="1000" dirty="0">
                <a:solidFill>
                  <a:schemeClr val="tx1"/>
                </a:solidFill>
              </a:rPr>
              <a:t>, React Router, Recharts</a:t>
            </a:r>
          </a:p>
          <a:p>
            <a:pPr marL="685800" lvl="2" indent="-228600">
              <a:buSzPts val="1800"/>
              <a:buFont typeface="Wingdings"/>
              <a:buChar char="§"/>
            </a:pPr>
            <a:r>
              <a:rPr lang="en-US" sz="1000" dirty="0">
                <a:solidFill>
                  <a:schemeClr val="tx1"/>
                </a:solidFill>
              </a:rPr>
              <a:t>Market Data: MFAPI and Yahoo Finance</a:t>
            </a:r>
          </a:p>
          <a:p>
            <a:pPr marL="685800" lvl="2" indent="-228600">
              <a:buSzPts val="1800"/>
              <a:buFont typeface="Wingdings"/>
              <a:buChar char="§"/>
            </a:pPr>
            <a:r>
              <a:rPr lang="en-US" sz="1000" dirty="0">
                <a:solidFill>
                  <a:schemeClr val="tx1"/>
                </a:solidFill>
              </a:rPr>
              <a:t>Development Tools: Git, npm, and a code editor</a:t>
            </a:r>
          </a:p>
          <a:p>
            <a:pPr marL="228600" indent="-228600">
              <a:buFont typeface=""/>
              <a:buChar char="•"/>
            </a:pPr>
            <a:r>
              <a:rPr lang="en-US" sz="1200" dirty="0">
                <a:solidFill>
                  <a:schemeClr val="tx1"/>
                </a:solidFill>
              </a:rPr>
              <a:t>Hardware Requirements: </a:t>
            </a:r>
          </a:p>
          <a:p>
            <a:pPr marL="685800" lvl="2" indent="-228600">
              <a:buSzPts val="1800"/>
              <a:buFont typeface="Wingdings"/>
              <a:buChar char="§"/>
            </a:pPr>
            <a:r>
              <a:rPr lang="en-US" sz="1000" dirty="0">
                <a:solidFill>
                  <a:schemeClr val="tx1"/>
                </a:solidFill>
              </a:rPr>
              <a:t>Development Machine: Laptop or desktop running Node.js and a local SQL server</a:t>
            </a:r>
          </a:p>
          <a:p>
            <a:pPr marL="685800" lvl="2" indent="-228600">
              <a:buSzPts val="1800"/>
              <a:buFont typeface="Wingdings"/>
              <a:buChar char="§"/>
            </a:pPr>
            <a:r>
              <a:rPr lang="en-US" sz="1000" dirty="0">
                <a:solidFill>
                  <a:schemeClr val="tx1"/>
                </a:solidFill>
              </a:rPr>
              <a:t>Display: Modern browser with desktop or mobile screen support</a:t>
            </a:r>
          </a:p>
          <a:p>
            <a:pPr marL="685800" lvl="2" indent="-228600">
              <a:buSzPts val="1800"/>
              <a:buFont typeface="Wingdings"/>
              <a:buChar char="§"/>
            </a:pPr>
            <a:r>
              <a:rPr lang="en-US" sz="1000" dirty="0">
                <a:solidFill>
                  <a:schemeClr val="tx1"/>
                </a:solidFill>
              </a:rPr>
              <a:t>Connectivity: Internet for market quotes and access to a remotely hosted API</a:t>
            </a:r>
          </a:p>
        </p:txBody>
      </p:sp>
      <p:sp>
        <p:nvSpPr>
          <p:cNvPr id="4" name="Slide Number Placeholder 3">
            <a:extLst>
              <a:ext uri="{FF2B5EF4-FFF2-40B4-BE49-F238E27FC236}">
                <a16:creationId xmlns:a16="http://schemas.microsoft.com/office/drawing/2014/main" id="{A5D37C05-E62E-FE02-2500-7EFAC4EBD1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12</a:t>
            </a:fld>
            <a:endParaRPr lang="en-IN"/>
          </a:p>
        </p:txBody>
      </p:sp>
    </p:spTree>
    <p:extLst>
      <p:ext uri="{BB962C8B-B14F-4D97-AF65-F5344CB8AC3E}">
        <p14:creationId xmlns:p14="http://schemas.microsoft.com/office/powerpoint/2010/main" val="3586606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42F6-42C8-06EF-0B56-D65D091E4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163BB-625E-6F7C-6C10-72E747E61128}"/>
              </a:ext>
            </a:extLst>
          </p:cNvPr>
          <p:cNvSpPr>
            <a:spLocks noGrp="1"/>
          </p:cNvSpPr>
          <p:nvPr>
            <p:ph type="title"/>
          </p:nvPr>
        </p:nvSpPr>
        <p:spPr>
          <a:xfrm>
            <a:off x="722313" y="1418167"/>
            <a:ext cx="7772400" cy="1362075"/>
          </a:xfrm>
        </p:spPr>
        <p:txBody>
          <a:bodyPr/>
          <a:lstStyle/>
          <a:p>
            <a:r>
              <a:rPr lang="en-US"/>
              <a:t>Conclusion</a:t>
            </a:r>
          </a:p>
        </p:txBody>
      </p:sp>
      <p:sp>
        <p:nvSpPr>
          <p:cNvPr id="3" name="Text Placeholder 2">
            <a:extLst>
              <a:ext uri="{FF2B5EF4-FFF2-40B4-BE49-F238E27FC236}">
                <a16:creationId xmlns:a16="http://schemas.microsoft.com/office/drawing/2014/main" id="{C6504A26-A848-2B2E-9DA1-63CA4FD3890E}"/>
              </a:ext>
            </a:extLst>
          </p:cNvPr>
          <p:cNvSpPr>
            <a:spLocks noGrp="1"/>
          </p:cNvSpPr>
          <p:nvPr>
            <p:ph type="body" idx="1"/>
          </p:nvPr>
        </p:nvSpPr>
        <p:spPr>
          <a:xfrm>
            <a:off x="688446" y="2906713"/>
            <a:ext cx="7772400" cy="3200000"/>
          </a:xfrm>
        </p:spPr>
        <p:txBody>
          <a:bodyPr anchor="t"/>
          <a:lstStyle/>
          <a:p>
            <a:pPr marL="0" indent="0"/>
            <a:r>
              <a:rPr lang="en-US" sz="1200" dirty="0">
                <a:solidFill>
                  <a:schemeClr val="tx1"/>
                </a:solidFill>
              </a:rPr>
              <a:t>Personal Budget Planner combines transaction tracking, category budgets, bill reminders, goals and investments. Budget allocations respect available income and explicit zero limits. Goal suggestions stay within remaining targets. Purchase-price calculations support all eight investment types, while live refresh preserves cost and reports quote status. Estimated quantities require confirmation before market valuation, and future investment dates are rejected. Shared input rules also power the Validation Test Panel. The final run passed 68 regression tests and 24 API groups. Focused browser checks confirmed date handling and responsive investment layouts. Manual entry and external quote availability remain limitations. Bank imports, report exports and currency conversion remain future work.</a:t>
            </a:r>
          </a:p>
        </p:txBody>
      </p:sp>
      <p:sp>
        <p:nvSpPr>
          <p:cNvPr id="4" name="Slide Number Placeholder 3">
            <a:extLst>
              <a:ext uri="{FF2B5EF4-FFF2-40B4-BE49-F238E27FC236}">
                <a16:creationId xmlns:a16="http://schemas.microsoft.com/office/drawing/2014/main" id="{1FE3E39A-FDAC-A886-059F-60AB11DDEE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13</a:t>
            </a:fld>
            <a:endParaRPr lang="en-IN"/>
          </a:p>
        </p:txBody>
      </p:sp>
    </p:spTree>
    <p:extLst>
      <p:ext uri="{BB962C8B-B14F-4D97-AF65-F5344CB8AC3E}">
        <p14:creationId xmlns:p14="http://schemas.microsoft.com/office/powerpoint/2010/main" val="3767069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5D8-CCD8-42E2-69B7-03AAF662C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CEA24-121C-4F59-13C9-B0116DE5E799}"/>
              </a:ext>
            </a:extLst>
          </p:cNvPr>
          <p:cNvSpPr>
            <a:spLocks noGrp="1"/>
          </p:cNvSpPr>
          <p:nvPr>
            <p:ph type="title"/>
          </p:nvPr>
        </p:nvSpPr>
        <p:spPr>
          <a:xfrm>
            <a:off x="722313" y="1418167"/>
            <a:ext cx="7772400" cy="1362075"/>
          </a:xfrm>
        </p:spPr>
        <p:txBody>
          <a:bodyPr/>
          <a:lstStyle/>
          <a:p>
            <a:r>
              <a:rPr lang="en-US"/>
              <a:t>Future Scope</a:t>
            </a:r>
          </a:p>
        </p:txBody>
      </p:sp>
      <p:sp>
        <p:nvSpPr>
          <p:cNvPr id="3" name="Text Placeholder 2">
            <a:extLst>
              <a:ext uri="{FF2B5EF4-FFF2-40B4-BE49-F238E27FC236}">
                <a16:creationId xmlns:a16="http://schemas.microsoft.com/office/drawing/2014/main" id="{1B513D70-B371-5981-E6A8-CB7F92DB3ADE}"/>
              </a:ext>
            </a:extLst>
          </p:cNvPr>
          <p:cNvSpPr>
            <a:spLocks noGrp="1"/>
          </p:cNvSpPr>
          <p:nvPr>
            <p:ph type="body" idx="1"/>
          </p:nvPr>
        </p:nvSpPr>
        <p:spPr>
          <a:xfrm>
            <a:off x="688446" y="2906713"/>
            <a:ext cx="7772400" cy="3200000"/>
          </a:xfrm>
        </p:spPr>
        <p:txBody>
          <a:bodyPr anchor="t"/>
          <a:lstStyle/>
          <a:p>
            <a:pPr marL="228600" indent="-228600">
              <a:buFont typeface=""/>
              <a:buChar char="•"/>
            </a:pPr>
            <a:r>
              <a:rPr lang="en-US" sz="1200" dirty="0">
                <a:solidFill>
                  <a:schemeClr val="tx1"/>
                </a:solidFill>
              </a:rPr>
              <a:t>Bank transaction imports and automated expense capture from SMS messages or receipt images using OCR and NLP.</a:t>
            </a:r>
          </a:p>
          <a:p>
            <a:pPr marL="228600" indent="-228600">
              <a:buFont typeface=""/>
              <a:buChar char="•"/>
            </a:pPr>
            <a:r>
              <a:rPr lang="en-US" sz="1200" dirty="0">
                <a:solidFill>
                  <a:schemeClr val="tx1"/>
                </a:solidFill>
              </a:rPr>
              <a:t>Machine-learning-based expense categorization and forecasting based on historical spending records.</a:t>
            </a:r>
          </a:p>
          <a:p>
            <a:pPr marL="228600" indent="-228600">
              <a:buFont typeface=""/>
              <a:buChar char="•"/>
            </a:pPr>
            <a:r>
              <a:rPr lang="en-US" sz="1200" dirty="0">
                <a:solidFill>
                  <a:schemeClr val="tx1"/>
                </a:solidFill>
              </a:rPr>
              <a:t>Additional market-data providers and asset classes, historical price charts, and realized-return tracking.</a:t>
            </a:r>
          </a:p>
          <a:p>
            <a:pPr marL="228600" indent="-228600">
              <a:buFont typeface=""/>
              <a:buChar char="•"/>
            </a:pPr>
            <a:r>
              <a:rPr lang="en-US" sz="1200" dirty="0">
                <a:solidFill>
                  <a:schemeClr val="tx1"/>
                </a:solidFill>
              </a:rPr>
              <a:t>External calendar synchronization and optional email or push reminders for bills and financial goals.</a:t>
            </a:r>
          </a:p>
          <a:p>
            <a:pPr marL="228600" indent="-228600">
              <a:buFont typeface=""/>
              <a:buChar char="•"/>
            </a:pPr>
            <a:r>
              <a:rPr lang="en-US" sz="1200" dirty="0">
                <a:solidFill>
                  <a:schemeClr val="tx1"/>
                </a:solidFill>
              </a:rPr>
              <a:t>PDF/Excel report exports, exchange-rate conversion, and production deployment with monitoring and backups.</a:t>
            </a:r>
          </a:p>
        </p:txBody>
      </p:sp>
      <p:sp>
        <p:nvSpPr>
          <p:cNvPr id="4" name="Slide Number Placeholder 3">
            <a:extLst>
              <a:ext uri="{FF2B5EF4-FFF2-40B4-BE49-F238E27FC236}">
                <a16:creationId xmlns:a16="http://schemas.microsoft.com/office/drawing/2014/main" id="{47CFC280-A8D3-6F86-556A-39A020C681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14</a:t>
            </a:fld>
            <a:endParaRPr lang="en-IN"/>
          </a:p>
        </p:txBody>
      </p:sp>
    </p:spTree>
    <p:extLst>
      <p:ext uri="{BB962C8B-B14F-4D97-AF65-F5344CB8AC3E}">
        <p14:creationId xmlns:p14="http://schemas.microsoft.com/office/powerpoint/2010/main" val="2379713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AE21-F57D-EF17-FD80-850A8CF02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4998C-4FFD-30F3-3621-2430D81B7F72}"/>
              </a:ext>
            </a:extLst>
          </p:cNvPr>
          <p:cNvSpPr>
            <a:spLocks noGrp="1"/>
          </p:cNvSpPr>
          <p:nvPr>
            <p:ph type="title"/>
          </p:nvPr>
        </p:nvSpPr>
        <p:spPr>
          <a:xfrm>
            <a:off x="722313" y="1418167"/>
            <a:ext cx="7772400" cy="1362075"/>
          </a:xfrm>
        </p:spPr>
        <p:txBody>
          <a:bodyPr/>
          <a:lstStyle/>
          <a:p>
            <a:r>
              <a:rPr lang="en-US"/>
              <a:t>References</a:t>
            </a:r>
          </a:p>
        </p:txBody>
      </p:sp>
      <p:sp>
        <p:nvSpPr>
          <p:cNvPr id="3" name="Text Placeholder 2">
            <a:extLst>
              <a:ext uri="{FF2B5EF4-FFF2-40B4-BE49-F238E27FC236}">
                <a16:creationId xmlns:a16="http://schemas.microsoft.com/office/drawing/2014/main" id="{F381BC0E-B2B3-2B28-7C45-A3754C65DA5C}"/>
              </a:ext>
            </a:extLst>
          </p:cNvPr>
          <p:cNvSpPr>
            <a:spLocks noGrp="1"/>
          </p:cNvSpPr>
          <p:nvPr>
            <p:ph type="body" idx="1"/>
          </p:nvPr>
        </p:nvSpPr>
        <p:spPr>
          <a:xfrm>
            <a:off x="688446" y="2771246"/>
            <a:ext cx="7772400" cy="3200000"/>
          </a:xfrm>
        </p:spPr>
        <p:txBody>
          <a:bodyPr anchor="t"/>
          <a:lstStyle/>
          <a:p>
            <a:pPr marL="228600" indent="-228600">
              <a:buFont typeface=""/>
              <a:buChar char="•"/>
            </a:pPr>
            <a:r>
              <a:rPr lang="en-US" sz="1200" dirty="0">
                <a:solidFill>
                  <a:schemeClr val="tx1"/>
                </a:solidFill>
              </a:rPr>
              <a:t>Project source: github.com/DhruvMht/personal-budget-planner</a:t>
            </a:r>
          </a:p>
          <a:p>
            <a:pPr marL="228600" indent="-228600">
              <a:buFont typeface=""/>
              <a:buChar char="•"/>
            </a:pPr>
            <a:r>
              <a:rPr lang="en-US" sz="1200" dirty="0">
                <a:solidFill>
                  <a:schemeClr val="tx1"/>
                </a:solidFill>
              </a:rPr>
              <a:t>Verification: </a:t>
            </a:r>
            <a:r>
              <a:rPr lang="en-US" sz="1200" dirty="0" err="1">
                <a:solidFill>
                  <a:schemeClr val="tx1"/>
                </a:solidFill>
              </a:rPr>
              <a:t>docs/qa-report.md</a:t>
            </a:r>
            <a:r>
              <a:rPr lang="en-US" sz="1200" dirty="0">
                <a:solidFill>
                  <a:schemeClr val="tx1"/>
                </a:solidFill>
              </a:rPr>
              <a:t> (15 October 2026)</a:t>
            </a:r>
            <a:r>
              <a:rPr lang="en-US" sz="1200" dirty="0" err="1">
                <a:solidFill>
                  <a:schemeClr val="tx1"/>
                </a:solidFill>
              </a:rPr>
              <a:t/>
            </a:r>
            <a:r>
              <a:rPr lang="en-US" sz="1200" dirty="0">
                <a:solidFill>
                  <a:schemeClr val="tx1"/>
                </a:solidFill>
              </a:rPr>
              <a:t/>
            </a:r>
          </a:p>
          <a:p>
            <a:pPr marL="228600" indent="-228600">
              <a:buFont typeface=""/>
              <a:buChar char="•"/>
            </a:pPr>
            <a:r>
              <a:rPr lang="en-US" sz="1200" dirty="0">
                <a:solidFill>
                  <a:schemeClr val="tx1"/>
                </a:solidFill>
              </a:rPr>
              <a:t>React documentation: react.dev/learn</a:t>
            </a:r>
          </a:p>
          <a:p>
            <a:pPr marL="228600" indent="-228600">
              <a:buFont typeface=""/>
              <a:buChar char="•"/>
            </a:pPr>
            <a:r>
              <a:rPr lang="en-US" sz="1200" dirty="0">
                <a:solidFill>
                  <a:schemeClr val="tx1"/>
                </a:solidFill>
              </a:rPr>
              <a:t>Express documentation: expressjs.com</a:t>
            </a:r>
          </a:p>
          <a:p>
            <a:pPr marL="228600" indent="-228600">
              <a:buFont typeface=""/>
              <a:buChar char="•"/>
            </a:pPr>
            <a:r>
              <a:rPr lang="en-US" sz="1200" dirty="0">
                <a:solidFill>
                  <a:schemeClr val="tx1"/>
                </a:solidFill>
              </a:rPr>
              <a:t>MySQL 8.0 Reference Manual: </a:t>
            </a:r>
            <a:r>
              <a:rPr lang="en-US" sz="1200" dirty="0" err="1">
                <a:solidFill>
                  <a:schemeClr val="tx1"/>
                </a:solidFill>
              </a:rPr>
              <a:t>dev.mysql.com/doc/refman/8.0/en/</a:t>
            </a:r>
            <a:r>
              <a:rPr lang="en-US" sz="1200" dirty="0">
                <a:solidFill>
                  <a:schemeClr val="tx1"/>
                </a:solidFill>
              </a:rPr>
              <a:t/>
            </a:r>
          </a:p>
          <a:p>
            <a:pPr marL="228600" indent="-228600">
              <a:buFont typeface=""/>
              <a:buChar char="•"/>
            </a:pPr>
            <a:r>
              <a:rPr lang="en-US" sz="1200" dirty="0">
                <a:solidFill>
                  <a:schemeClr val="tx1"/>
                </a:solidFill>
              </a:rPr>
              <a:t>YNAB Method: ynab.com/ynab-method</a:t>
            </a:r>
          </a:p>
        </p:txBody>
      </p:sp>
      <p:sp>
        <p:nvSpPr>
          <p:cNvPr id="4" name="Slide Number Placeholder 3">
            <a:extLst>
              <a:ext uri="{FF2B5EF4-FFF2-40B4-BE49-F238E27FC236}">
                <a16:creationId xmlns:a16="http://schemas.microsoft.com/office/drawing/2014/main" id="{1ACCDAB5-1716-8C07-D673-847AD8A71B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15</a:t>
            </a:fld>
            <a:endParaRPr lang="en-IN"/>
          </a:p>
        </p:txBody>
      </p:sp>
    </p:spTree>
    <p:extLst>
      <p:ext uri="{BB962C8B-B14F-4D97-AF65-F5344CB8AC3E}">
        <p14:creationId xmlns:p14="http://schemas.microsoft.com/office/powerpoint/2010/main" val="3394698171"/>
      </p:ext>
    </p:extLst>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6812894AF27C4B9BEA242A5F6FBAEB" ma:contentTypeVersion="3" ma:contentTypeDescription="Create a new document." ma:contentTypeScope="" ma:versionID="a489823335127097a59b5e1221195550">
  <xsd:schema xmlns:xsd="http://www.w3.org/2001/XMLSchema" xmlns:xs="http://www.w3.org/2001/XMLSchema" xmlns:p="http://schemas.microsoft.com/office/2006/metadata/properties" xmlns:ns2="7bca1dba-6ac6-41dc-89fe-ef4b674b2d91" targetNamespace="http://schemas.microsoft.com/office/2006/metadata/properties" ma:root="true" ma:fieldsID="1d5048d958bb91d07665fe1e62e4cc96" ns2:_="">
    <xsd:import namespace="7bca1dba-6ac6-41dc-89fe-ef4b674b2d9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ca1dba-6ac6-41dc-89fe-ef4b674b2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6F1E82-8C61-4933-A304-5B0A8505412A}">
  <ds:schemaRefs>
    <ds:schemaRef ds:uri="http://schemas.microsoft.com/sharepoint/v3/contenttype/forms"/>
  </ds:schemaRefs>
</ds:datastoreItem>
</file>

<file path=customXml/itemProps2.xml><?xml version="1.0" encoding="utf-8"?>
<ds:datastoreItem xmlns:ds="http://schemas.openxmlformats.org/officeDocument/2006/customXml" ds:itemID="{F4B9B46B-1284-4B78-A580-E7164C722609}">
  <ds:schemaRefs>
    <ds:schemaRef ds:uri="7bca1dba-6ac6-41dc-89fe-ef4b674b2d9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149EB80-14D7-4632-9D3F-601C5D97D4FD}">
  <ds:schemaRefs>
    <ds:schemaRef ds:uri="7bca1dba-6ac6-41dc-89fe-ef4b674b2d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66</TotalTime>
  <Words>1820</Words>
  <Application>Microsoft Office PowerPoint</Application>
  <PresentationFormat>On-screen Show (4:3)</PresentationFormat>
  <Paragraphs>121</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Book Antiqua</vt:lpstr>
      <vt:lpstr>Arial</vt:lpstr>
      <vt:lpstr>Times New Roman</vt:lpstr>
      <vt:lpstr>Wingdings</vt:lpstr>
      <vt:lpstr>Noto Sans Symbols</vt:lpstr>
      <vt:lpstr>Aptos</vt:lpstr>
      <vt:lpstr>MPSTME</vt:lpstr>
      <vt:lpstr>        Project Approval Presentation A.Y. 2026-2027 Project Title: Personal Budget Planner</vt:lpstr>
      <vt:lpstr>Abstract</vt:lpstr>
      <vt:lpstr>Introduction (Real World Challenges)</vt:lpstr>
      <vt:lpstr>Objectives</vt:lpstr>
      <vt:lpstr>Scope (Key Features Included)</vt:lpstr>
      <vt:lpstr>Scope (Project Boundaries)</vt:lpstr>
      <vt:lpstr>Literature Survey (Current Landscape)</vt:lpstr>
      <vt:lpstr>Proposed System (Platform Architecture)</vt:lpstr>
      <vt:lpstr>Proposed System (User Model)</vt:lpstr>
      <vt:lpstr>Methodology</vt:lpstr>
      <vt:lpstr>Dataset (User-Generated Financial Data)</vt:lpstr>
      <vt:lpstr>Software &amp; Hardware Requirements</vt:lpstr>
      <vt:lpstr>Conclusion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CSBS Synopsis Presentation A.Y. 2023-2024 Project Title:</dc:title>
  <dc:creator>Shubha Puthran</dc:creator>
  <cp:lastModifiedBy>SWARAJ NAIK - 70472500205</cp:lastModifiedBy>
  <cp:revision>6</cp:revision>
  <dcterms:modified xsi:type="dcterms:W3CDTF">2026-09-03T07:55:35Z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0x010100896812894AF27C4B9BEA242A5F6FBAEB</vt:lpwstr>
  </property>
</Properties>
</file>